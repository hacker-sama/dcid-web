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3eaa348f434da4" /><Relationship Type="http://schemas.openxmlformats.org/officeDocument/2006/relationships/extended-properties" Target="/docProps/app.xml" Id="R943ff7a526934850" /><Relationship Type="http://schemas.openxmlformats.org/officeDocument/2006/relationships/officeDocument" Target="/ppt/presentation.xml" Id="Ra5fb8f19142940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26ca67a5ec49cc"/>
  </p:sldMasterIdLst>
  <p:notesMasterIdLst>
    <p:notesMasterId xmlns:r="http://schemas.openxmlformats.org/officeDocument/2006/relationships" r:id="R88f55757be944a54"/>
  </p:notesMasterIdLst>
  <p:sldIdLst>
    <p:sldId xmlns:r="http://schemas.openxmlformats.org/officeDocument/2006/relationships" id="256" r:id="R2595b49e4cc6443d"/>
    <p:sldId xmlns:r="http://schemas.openxmlformats.org/officeDocument/2006/relationships" id="257" r:id="R093cc835e74b496e"/>
    <p:sldId xmlns:r="http://schemas.openxmlformats.org/officeDocument/2006/relationships" id="258" r:id="R60bba91a1adb4cf0"/>
    <p:sldId xmlns:r="http://schemas.openxmlformats.org/officeDocument/2006/relationships" id="259" r:id="Rd3baaf7459bf4f24"/>
    <p:sldId xmlns:r="http://schemas.openxmlformats.org/officeDocument/2006/relationships" id="260" r:id="R181848c95ba24b93"/>
    <p:sldId xmlns:r="http://schemas.openxmlformats.org/officeDocument/2006/relationships" id="261" r:id="Rb5d96340d42b447c"/>
    <p:sldId xmlns:r="http://schemas.openxmlformats.org/officeDocument/2006/relationships" id="262" r:id="Rfc5c738a22f6469e"/>
    <p:sldId xmlns:r="http://schemas.openxmlformats.org/officeDocument/2006/relationships" id="263" r:id="R8f6bc1cef17d4147"/>
    <p:sldId xmlns:r="http://schemas.openxmlformats.org/officeDocument/2006/relationships" id="264" r:id="R1ded288f84824498"/>
    <p:sldId xmlns:r="http://schemas.openxmlformats.org/officeDocument/2006/relationships" id="265" r:id="R13da0b5e97b642d4"/>
    <p:sldId xmlns:r="http://schemas.openxmlformats.org/officeDocument/2006/relationships" id="266" r:id="Rc40ba5fc72234f64"/>
    <p:sldId xmlns:r="http://schemas.openxmlformats.org/officeDocument/2006/relationships" id="267" r:id="R749fa746af6e4b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c9fc90641b439c" /><Relationship Type="http://schemas.openxmlformats.org/officeDocument/2006/relationships/slideMaster" Target="/ppt/slideMasters/slideMaster1.xml" Id="R4c26ca67a5ec49cc" /><Relationship Type="http://schemas.openxmlformats.org/officeDocument/2006/relationships/notesMaster" Target="/ppt/notesMasters/notesMaster1.xml" Id="R88f55757be944a54" /><Relationship Type="http://schemas.openxmlformats.org/officeDocument/2006/relationships/presProps" Target="/ppt/presProps.xml" Id="R69c3b8779e214e91" /><Relationship Type="http://schemas.openxmlformats.org/officeDocument/2006/relationships/tableStyles" Target="/ppt/tableStyles.xml" Id="Re39c8f189d204d99" /><Relationship Type="http://schemas.openxmlformats.org/officeDocument/2006/relationships/slide" Target="/ppt/slides/slide1.xml" Id="R2595b49e4cc6443d" /><Relationship Type="http://schemas.openxmlformats.org/officeDocument/2006/relationships/slide" Target="/ppt/slides/slide2.xml" Id="R093cc835e74b496e" /><Relationship Type="http://schemas.openxmlformats.org/officeDocument/2006/relationships/slide" Target="/ppt/slides/slide3.xml" Id="R60bba91a1adb4cf0" /><Relationship Type="http://schemas.openxmlformats.org/officeDocument/2006/relationships/slide" Target="/ppt/slides/slide4.xml" Id="Rd3baaf7459bf4f24" /><Relationship Type="http://schemas.openxmlformats.org/officeDocument/2006/relationships/slide" Target="/ppt/slides/slide5.xml" Id="R181848c95ba24b93" /><Relationship Type="http://schemas.openxmlformats.org/officeDocument/2006/relationships/slide" Target="/ppt/slides/slide6.xml" Id="Rb5d96340d42b447c" /><Relationship Type="http://schemas.openxmlformats.org/officeDocument/2006/relationships/slide" Target="/ppt/slides/slide7.xml" Id="Rfc5c738a22f6469e" /><Relationship Type="http://schemas.openxmlformats.org/officeDocument/2006/relationships/slide" Target="/ppt/slides/slide8.xml" Id="R8f6bc1cef17d4147" /><Relationship Type="http://schemas.openxmlformats.org/officeDocument/2006/relationships/slide" Target="/ppt/slides/slide9.xml" Id="R1ded288f84824498" /><Relationship Type="http://schemas.openxmlformats.org/officeDocument/2006/relationships/slide" Target="/ppt/slides/slide10.xml" Id="R13da0b5e97b642d4" /><Relationship Type="http://schemas.openxmlformats.org/officeDocument/2006/relationships/slide" Target="/ppt/slides/slide11.xml" Id="Rc40ba5fc72234f64" /><Relationship Type="http://schemas.openxmlformats.org/officeDocument/2006/relationships/slide" Target="/ppt/slides/slide12.xml" Id="R749fa746af6e4b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94e72d95a34a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43029ad0d5482e" /><Relationship Type="http://schemas.openxmlformats.org/officeDocument/2006/relationships/notesMaster" Target="/ppt/notesMasters/notesMaster1.xml" Id="R7864d2f3164545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217e7b1e70404a" /><Relationship Type="http://schemas.openxmlformats.org/officeDocument/2006/relationships/notesMaster" Target="/ppt/notesMasters/notesMaster1.xml" Id="Ra8b0d85b8e864d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1dc6e96029484e" /><Relationship Type="http://schemas.openxmlformats.org/officeDocument/2006/relationships/notesMaster" Target="/ppt/notesMasters/notesMaster1.xml" Id="R6d9bd17440ab46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44ded2c4ac4ef9" /><Relationship Type="http://schemas.openxmlformats.org/officeDocument/2006/relationships/notesMaster" Target="/ppt/notesMasters/notesMaster1.xml" Id="R9e8833e587ef48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d820f4f77f4137" /><Relationship Type="http://schemas.openxmlformats.org/officeDocument/2006/relationships/notesMaster" Target="/ppt/notesMasters/notesMaster1.xml" Id="R99f198336cf84e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7b069400854015" /><Relationship Type="http://schemas.openxmlformats.org/officeDocument/2006/relationships/notesMaster" Target="/ppt/notesMasters/notesMaster1.xml" Id="R878991c98c724c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2759610c534af7" /><Relationship Type="http://schemas.openxmlformats.org/officeDocument/2006/relationships/notesMaster" Target="/ppt/notesMasters/notesMaster1.xml" Id="Rab21a9c71c5b4f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7f7fd800ee4cf5" /><Relationship Type="http://schemas.openxmlformats.org/officeDocument/2006/relationships/notesMaster" Target="/ppt/notesMasters/notesMaster1.xml" Id="Raa9c6fa6fd664f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585ecd01744698" /><Relationship Type="http://schemas.openxmlformats.org/officeDocument/2006/relationships/notesMaster" Target="/ppt/notesMasters/notesMaster1.xml" Id="R2a1736dd724240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d69a8a656e4296" /><Relationship Type="http://schemas.openxmlformats.org/officeDocument/2006/relationships/notesMaster" Target="/ppt/notesMasters/notesMaster1.xml" Id="Rdf23e76598dc47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3b6b482417411e" /><Relationship Type="http://schemas.openxmlformats.org/officeDocument/2006/relationships/notesMaster" Target="/ppt/notesMasters/notesMaster1.xml" Id="Rd177dced301240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386ccfd67f4c94" /><Relationship Type="http://schemas.openxmlformats.org/officeDocument/2006/relationships/notesMaster" Target="/ppt/notesMasters/notesMaster1.xml" Id="Rffa5c477d03d4a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bài toán ra quyết định kỹ thuật tại hiện trường, không giới thiệu hệ thống như một chatbot PDF thông thường.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project positioning and presentation brief</a:t>
            </a:r>
          </a:p>
          <a:p xmlns:a="http://schemas.openxmlformats.org/drawingml/2006/main">
            <a:r>
              <a:t>- C:\project\new\dcid-web\dcid-app\web\icons\Icon-512.png — project-owned app icon</a:t>
            </a:r>
          </a:p>
          <a:p xmlns:a="http://schemas.openxmlformats.org/drawingml/2006/main">
            <a:r>
              <a:t>- OpenAI image generation — custom hero generated for this deck; prompt recorded in 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từng thành viên trong một câu: tên, vai trò và đầu ra. Thay các placeholder bằng tên thật trước khi trình chiếu.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C:\project\new\dcid-web\docs\PLAN-THESIS.md — five-role responsibility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tác động vận hành: downtime, an toàn, chất lượng và tuân thủ. Không hứa thay thế chuyên gia; DCID hỗ trợ quyết định có căn cứ.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pain points</a:t>
            </a:r>
          </a:p>
          <a:p xmlns:a="http://schemas.openxmlformats.org/drawingml/2006/main">
            <a:r>
              <a:t>- C:\project\new\dcid-web\README.md — official document governance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business là kho tri thức chính thức có quản trị. Guest / Ask là kênh dùng thử, không phải trọng tâm giá trị.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dual-plane and role model</a:t>
            </a:r>
          </a:p>
          <a:p xmlns:a="http://schemas.openxmlformats.org/drawingml/2006/main">
            <a:r>
              <a:t>- C:\Users\HACOM\Downloads\report_presentation (1).md — private/grounded/governed proposition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ranh giới trách nhiệm: backend là single writer của PostgreSQL; AI chỉ nhận contract nội bộ và xử lý tri thức. Đây là quyết định quan trọng nhất của kiến trúc.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C:\project\new\dcid-web\docs\ARCHITECTURE.md — dual-plane architecture</a:t>
            </a:r>
          </a:p>
          <a:p xmlns:a="http://schemas.openxmlformats.org/drawingml/2006/main">
            <a:r>
              <a:t>- C:\project\new\dcid-web\docs\API-CONTRACT.md — backend/AI contract</a:t>
            </a:r>
          </a:p>
          <a:p xmlns:a="http://schemas.openxmlformats.org/drawingml/2006/main">
            <a:r>
              <a:t>- C:\Users\HACOM\Downloads\report_presentation (1).md — architecture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danh sách công nghệ. Nêu tiêu chí chọn: phân tách trách nhiệm, chạy on-premise, chịu lỗi và đủ nhẹ cho hạ tầng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repository stack</a:t>
            </a:r>
          </a:p>
          <a:p xmlns:a="http://schemas.openxmlformats.org/drawingml/2006/main">
            <a:r>
              <a:t>- C:\project\new\dcid-web\docker-compose.yml — deployed services</a:t>
            </a:r>
          </a:p>
          <a:p xmlns:a="http://schemas.openxmlformats.org/drawingml/2006/main">
            <a:r>
              <a:t>- C:\project\new\dcid-web\docs\ARCHITECTURE.md — technology 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 A chứng minh governance và giá trị vận hành. Use case B chứng minh cô lập dữ liệu và trải nghiệm không cần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official and guest workflows</a:t>
            </a:r>
          </a:p>
          <a:p xmlns:a="http://schemas.openxmlformats.org/drawingml/2006/main">
            <a:r>
              <a:t>- C:\Users\HACOM\Downloads\report_presentation (1).md — dual-system 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5 bước. Nhấn mạnh ingestion chạy nền để upload không phải chờ OCR/embedding, và metadata không gian được giữ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ingestion sequence</a:t>
            </a:r>
          </a:p>
          <a:p xmlns:a="http://schemas.openxmlformats.org/drawingml/2006/main">
            <a:r>
              <a:t>- C:\project\new\dcid-web\dcid-ai\app\pipeline\ocr.py — hybrid extraction</a:t>
            </a:r>
          </a:p>
          <a:p xmlns:a="http://schemas.openxmlformats.org/drawingml/2006/main">
            <a:r>
              <a:t>- C:\project\new\dcid-web\docs\API-CONTRACT.md — ingest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quan trọng nhất. Trình bày theo thứ tự: policy trước retrieval, guardrail trước generation, và luôn có bằng chứng hoặc từ chối. Không dùng tuyên bố tuyệt đối '0% hallucination'.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C:\project\new\dcid-web\dcid-backend\src\main\java\vn\dcid\service\QueryService.java — allowed ACTIVE versions by role</a:t>
            </a:r>
          </a:p>
          <a:p xmlns:a="http://schemas.openxmlformats.org/drawingml/2006/main">
            <a:r>
              <a:t>- C:\project\new\dcid-web\dcid-ai\app\services\query_service.py — RAG orchestration</a:t>
            </a:r>
          </a:p>
          <a:p xmlns:a="http://schemas.openxmlformats.org/drawingml/2006/main">
            <a:r>
              <a:t>- C:\project\new\dcid-web\dcid-ai\app\pipeline\guardrails.py — threshold and numeric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toàn bộ schema. Nêu ba quan hệ cốt lõi: document–version, version–page, query–matched version; sau đó giải thích polyglot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C:\project\new\dcid-web\docs\ERD.md — relational schema and storage separation</a:t>
            </a:r>
          </a:p>
          <a:p xmlns:a="http://schemas.openxmlformats.org/drawingml/2006/main">
            <a:r>
              <a:t>- C:\project\new\dcid-web\dcid-backend\src\main\resources\db\migration — implemented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rõ implemented và measured. Đây là cách trả lời an toàn nếu hội đồng hỏi 'số liệu lấy ở đâu'. Chỉ dùng baseline có mô tả mẫu đo.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verified implementation status updated 2026-08-06</a:t>
            </a:r>
          </a:p>
          <a:p xmlns:a="http://schemas.openxmlformats.org/drawingml/2006/main">
            <a:r>
              <a:t>- C:\project\new\dcid-web\docs\PLAN-THESIS.md — OCR spike and pending evaluation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kết luận có thể bảo vệ: kiến trúc đã chạy, giá trị đã rõ, nhưng cần đánh giá và pilot trước khi khẳng định hiệu quả sản xuất. Sau đó chuyển sang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implementation lessons and next milestones</a:t>
            </a:r>
          </a:p>
          <a:p xmlns:a="http://schemas.openxmlformats.org/drawingml/2006/main">
            <a:r>
              <a:t>- C:\project\new\dcid-web\docs\SETUP.md — E2E issues and fixes</a:t>
            </a:r>
          </a:p>
          <a:p xmlns:a="http://schemas.openxmlformats.org/drawingml/2006/main">
            <a:r>
              <a:t>- C:\project\new\dcid-web\docs\PLAN-THESIS.md — evaluation 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bbcac916343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2514f8a36d4ec0" /><Relationship Type="http://schemas.openxmlformats.org/officeDocument/2006/relationships/slideLayout" Target="/ppt/slideLayouts/slideLayout1.xml" Id="R36b9e0a23f854d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b9e0a23f854d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241fc81bb4fd8" /><Relationship Type="http://schemas.openxmlformats.org/officeDocument/2006/relationships/image" Target="/ppt/media/image.png" Id="R3f3db79171024b51" /><Relationship Type="http://schemas.openxmlformats.org/officeDocument/2006/relationships/image" Target="/ppt/media/image2.png" Id="R1881a0960d6c4f18" /><Relationship Type="http://schemas.openxmlformats.org/officeDocument/2006/relationships/notesSlide" Target="/ppt/notesSlides/notesSlide1.xml" Id="R5b83615c2e5941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287d873154d0c" /><Relationship Type="http://schemas.openxmlformats.org/officeDocument/2006/relationships/notesSlide" Target="/ppt/notesSlides/notesSlide2.xml" Id="R6775b972860348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0dcbcd20a4e2a" /><Relationship Type="http://schemas.openxmlformats.org/officeDocument/2006/relationships/notesSlide" Target="/ppt/notesSlides/notesSlide3.xml" Id="Rc06060976ead4f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2e8edfbd446c5" /><Relationship Type="http://schemas.openxmlformats.org/officeDocument/2006/relationships/notesSlide" Target="/ppt/notesSlides/notesSlide4.xml" Id="R1faf0d50dc3e4e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e65faba2f4d79" /><Relationship Type="http://schemas.openxmlformats.org/officeDocument/2006/relationships/notesSlide" Target="/ppt/notesSlides/notesSlide5.xml" Id="Reaa09cf5347e41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7277761e14fd4" /><Relationship Type="http://schemas.openxmlformats.org/officeDocument/2006/relationships/notesSlide" Target="/ppt/notesSlides/notesSlide6.xml" Id="R12f9664ef9744b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7f44c0bda438c" /><Relationship Type="http://schemas.openxmlformats.org/officeDocument/2006/relationships/notesSlide" Target="/ppt/notesSlides/notesSlide7.xml" Id="R1747fae133414d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7c08b16e148b6" /><Relationship Type="http://schemas.openxmlformats.org/officeDocument/2006/relationships/notesSlide" Target="/ppt/notesSlides/notesSlide8.xml" Id="R220452b51b4940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4e93a4e044889" /><Relationship Type="http://schemas.openxmlformats.org/officeDocument/2006/relationships/notesSlide" Target="/ppt/notesSlides/notesSlide9.xml" Id="R3db6e30a166140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66e5718484f10" /><Relationship Type="http://schemas.openxmlformats.org/officeDocument/2006/relationships/notesSlide" Target="/ppt/notesSlides/notesSlide10.xml" Id="Rfaf1a421b04c49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1febad5764791" /><Relationship Type="http://schemas.openxmlformats.org/officeDocument/2006/relationships/notesSlide" Target="/ppt/notesSlides/notesSlide11.xml" Id="R3d5c4b14014643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e9e8adf8747fb" /><Relationship Type="http://schemas.openxmlformats.org/officeDocument/2006/relationships/notesSlide" Target="/ppt/notesSlides/notesSlide12.xml" Id="Ra8156f8d31884e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db79171024b51"/>
          <a:srcRect xmlns:a="http://schemas.openxmlformats.org/drawingml/2006/main" l="0" t="12145" r="0" b="12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E3A5-747F-405A-9E55-AE34ED19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1676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1a0960d6c4f18"/>
          <a:stretch xmlns:a="http://schemas.openxmlformats.org/drawingml/2006/main"/>
        </p:blipFill>
        <p:spPr>
          <a:xfrm xmlns:a="http://schemas.openxmlformats.org/drawingml/2006/main">
            <a:off x="533400" y="400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E03F-4117-468C-99FB-E1F16C1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PROJECT SEM4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E8CB-D064-4713-BB3D-81B1FFC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DCID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E9A1A-F29D-49C3-9C4B-72AA901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Cognitive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Industrial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97EF4-5E73-4E85-9CB0-EC15D14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8A65C-8E6E-4323-9D95-F2FBA83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Đúng tri thức · Đúng phiên bản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Ngay tại hiện trường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5B13B-FC65-4DD0-8E3C-C53DDBC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Trợ lý tri thức kỹ thuật on-premise cho nhà máy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407A-5AB4-4730-9513-6807F2E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Nhóm thực hiện: Nhóm DCID</a:t>
            </a:r>
          </a:p>
        </p:txBody>
      </p:sp>
    </p:spTree>
    <p:extLst>
      <p:ext uri="{BB962C8B-B14F-4D97-AF65-F5344CB8AC3E}">
        <p14:creationId xmlns:p14="http://schemas.microsoft.com/office/powerpoint/2010/main" val="463491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AE958-3270-4368-AFF5-52AE64C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 ·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3F69-0A53-4750-B377-B2FD7999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vai trò, một luồng bàn giao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1CBB8-22C4-4FA7-9E3D-0DE2C4D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Tên thành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7E92-09C2-4E15-BFB3-97C80718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81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Phụ trách chính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864AB-13C5-4DF0-A5B7-E1020628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81150"/>
            <a:ext cx="4276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 chịu trách nhiệm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E9618-E426-4A05-93F2-CBB9593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CAF29-58F4-4C61-8012-E2DD0B88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1CD78-04B9-452C-ACC6-A66E24D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E155-F433-4827-AF66-17A54889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Hải Đông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D71CD-DBDD-48E7-8C62-9239388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Leader · Backend ·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C5E5-B3E7-47B7-ADE1-BAED223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Điều phối · Auth/RBAC · version ·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29F2-AAFE-411D-93D0-98DC43C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53C05-7A78-436E-8D32-A8B0655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Lê Nhật Huy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77554-4900-4CAA-8440-F654F231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Phó nhóm · AI/RAG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2EF0A-44B5-435B-88F7-B9378E0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24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 · RAG · guardrail · tích hợp Backend–AI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DBE3A-CF8E-4BEE-BF67-7DBEA1DF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7B942-B117-4D0C-8507-C618711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79EE6-F17F-4A1A-B448-652A77B4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Anh Vũ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7DFB2-A25C-411D-9547-E46EA7C0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 / Full-stack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9D23F-CD13-4089-B70C-C60DEFC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API · dữ liệu · tích hợp giao diện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8B51F-55A8-47DA-AAD8-134EC088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F4B6-DAB5-4D18-AF6E-29EC10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Nguyễn Minh Hà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701B5-24C3-47E8-9F8F-A8CD3EB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86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Data · Evaluation · Tài liệu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9899-AE26-4A58-8782-FF64EBD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Dataset · eval · chuẩn hóa tài liệu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E37E1-CF2E-4037-9E2B-23D4F14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84BF0-C40F-465D-AA0E-93717E3A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AD0F4-7512-4327-8A64-3E338390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673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Dương Anh Vũ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CED76-E36F-4EEF-83CF-EDD5BFA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6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Frontend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7C59D-4C15-46FF-BCCB-A8A893E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67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 kiosk · Android · citation viewer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8406A-72DE-4790-BB2D-FD0F4198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6787A-6D15-4913-B858-5B9C3BA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AA993-30A1-43A2-9011-58974F6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420131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C779B-4351-4D9B-ADE7-DE41989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4441D-73F7-4AE3-AD63-798D138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thật: tìm đúng tài liệu dưới áp lực hiện trường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68EE6-E13F-43A3-8A24-9DF52D2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Khi máy dừng, kỹ sư không cần thêm một chatbot — họ cần bằng chứng kỹ thuật đúng, có hiệu lực và được phép xem.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D442-BE7B-4898-BED2-85FE98F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7FE9E-EC3E-42BD-A2EA-B54FC5E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AE5C-2801-4C5A-8A44-3C7930AF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phân tán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6ACCE-C7BA-43AC-AE0A-B34F385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SOP, manual và bản vẽ nằm ở nhiều nơi; tìm thủ công làm tăng thời gian xử lý sự cố.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5EF48-1D7B-40D5-B08E-2B4D10D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E33BF-45F2-42AD-A273-A948BE4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Nhiều phiên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85B46-03A0-49CF-9FC5-4811FA8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Dùng nhầm bản cũ có thể tạo thao tác sai, ảnh hưởng an toàn, chất lượng và tuân thủ.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DC15-8579-40B6-83D0-10D439D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19789-00F8-4C4D-A461-FD664F1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Không thể đưa lên cloud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EA633-6E80-4CA0-9D23-D72D683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Bản vẽ và quy trình nội bộ chứa bí mật công nghệ, cần giữ trong mạng nhà máy.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FF5BF-7AF4-4F62-83FF-A012E69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1D376-05CF-43D7-B65B-86202050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có thể suy đoán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22C4D-5A24-4937-90DF-165AF47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con số sai về điện áp, áp suất hoặc dung sai có thể gây hậu quả vận hành nghiêm trọng.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43C0E-0B48-4227-8855-32573AF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27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 kinh doanh: giảm thời gian tìm tri thức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giảm rủi ro quyết định sai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D2C2-A9AB-484C-B657-2B8D1C5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2C2ED-3D52-4A2A-865C-73491DA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D5144-A6E8-48E7-BDA4-B17A900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642483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477D5-4627-479F-8E98-2D967E4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734E-E05B-42D0-BBAE-2BE776B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DCID trả lời từ tài liệu có kiểm soát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03C13-438E-44BA-93A4-8F86E6E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 cam kết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66492-89D8-4BE2-B79E-B8B3EE6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9DF7D-29B5-4519-AF57-4AE96DD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Chạy on-premise; dữ liệu không rời hệ thống nội bộ.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03BD1-6D6E-44A8-AE81-D0F63E9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9E0CD-2579-4068-A040-ECC4B1C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153F-C6BA-4639-80BB-6FEE8DEF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Câu trả lời gắn trang, đoạn trích và vị trí nguồn.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E626E-11B4-4963-B0BE-EF4956B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C063-948D-4653-BB0B-0AEF709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E320-467D-45F7-9D1B-DEFF568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phiên bản ACTIVE, audit và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0D22F-B668-4D3D-9FE8-CD9FEC5A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DB346-330F-4A95-BD4C-8F241B7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7912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1DDC-E9F7-4C73-ADDB-8BBE591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 và công việc chính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7037-D86B-4929-AD67-883CEA4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93F08-7024-44F3-9200-CFC50F4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SOP vận hành và an toàn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5DC30-6917-49AD-876C-106E948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FEC1E-851D-4F31-9826-BA1BF2E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bản vẽ, lỗi máy, thông số và hướng dẫn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8E3DC-D815-4FB6-9D30-4E76712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QA_ADMIN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51D95-6181-412D-8444-7309CAB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Upload, quản lý phiên bản và phát hành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868E5-E865-45C9-8E26-071CDFE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28EE8-05BA-4AEC-892C-DB304F5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người dùng, audit và hệ thống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7F62F-DF23-47C4-B464-E9DD37F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4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4E7"/>
                </a:solidFill>
                <a:latin typeface="Arial"/>
                <a:ea typeface="Arial"/>
                <a:cs typeface="Arial"/>
              </a:rPr>
              <a:t>Kênh phụ trợ: Guest / Ask cho dùng thử tài liệu tạm thời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7AC62-8B3C-4D50-A911-EE15D92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95CB-A8F3-49FD-80F3-85FC573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6908F-05D1-402D-AAD2-CA8D501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08749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Dual-plane tách quản trị nghiệp vụ khỏi xử lý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CLIENTS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Web kiosk · Admin · 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GOVERNANCE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3.3 · Java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Auth / RBAC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Document &amp; version lifecycle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Guest session &amp; TTL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· API · file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INTELLIGENCE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Local LLM/VLM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OCR / vision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Chunk + embedding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Guardrail + grounded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nghiệp vụ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/ ảnh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/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giữ một trách nhiệm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VÌ SAO DÙNG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 · SSE/STOMP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codebase cho Web kiosk và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 · JPA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version, audit, API và single-writer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Celery · PyMuPDF · PaddleOCR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OCR, RAG, vision và xử lý nền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multilingual-e5 · BM25 · Qdrant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Bắt cả ý nghĩa lẫn mã máy / mã lỗi chính xác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· MinIO ·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Tách metadata, file nhị phân và hàng đợi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Compose · Nginx · 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Đóng gói, triển khai nội bộ và CI/CD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87444-BC24-4078-86F0-9EB5E10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 ·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1DEA-C228-48B5-ACC9-D3E9760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phân hệ, hai mức tin cậy và vòng đời dữ liệu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1D6C-463F-4806-9E95-6173C00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8682A-8662-4DA4-B66D-E3C9A53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 · KHO TÀI LIỆU CHÍNH THỨC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7004-5A74-41D2-AE04-E341F75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hằng ngày trong nhà máy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671B1-15E0-4C3F-A89B-7C9EAAE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Đăng nhập JWT và lọc theo RBAC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Upload SOP / manual / bản vẽ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Quản lý version và trạng thái ACTIVE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Hỏi đáp RAG + trích dẫn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Ghi query log và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9F2E-CEDF-4603-B886-580032D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0F1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CORE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95406-A54C-4E53-8978-50B215D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486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B88F8-A194-4F7E-9928-0CDDBF6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B · GUEST /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306D2-8931-4ECA-9E76-8A81171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Trải nghiệm nhanh với tài liệu tạm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49890-588D-4EF9-AF00-8CA2FF6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cần tài khoản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Session token ngẫu nhiên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File và vector cô lập theo session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TTL 2 giờ; cleanup định kỳ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trộn vào kho chính thức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F732D-F489-463E-9586-0D26A18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KÊNH DÙNG THỬ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DBD56-A450-4845-A89B-70D9FA3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63FA6-DD9C-4917-830C-12918FC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2027F-B370-4700-B509-6745595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840874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được biến thành tri thức có vị trí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PDF vào MinIO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Version =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text hoặc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 200 DPI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Giữ bảng + Bbox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snippet nguồn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multilingual-e5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vector 384 chiều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+ payload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Điểm khác biệt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Mỗi chunk giữ page_no + bbox + snippet, nên câu trả lời có thể mở đúng trang và khoanh đúng vùng bằng chứng.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chỉ đi tới LLM sau khi qua quyền và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+ chỉ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số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theo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Citation + audit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hoặc từ chối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Khi bằng chứng đủ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+ confidence + citations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người dùng mở trang nguồn để đối chiếu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Khi bằng chứng yếu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hoặc gắn nhãn câu trả lời tham khảo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yêu cầu kỹ sư kiểm tra bản vẽ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Thông điệp an toàn: giảm câu trả lời thiếu căn cứ — không tuyên bố AI không bao giờ sai.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giữ nghiệp vụ; file và vector tách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 ·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machine_code · min_role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· version_no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confidence · 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 · action ·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page_no · image_key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 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token_hash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Ngoài PostgreSQL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 · PDF / ảnh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 · vector + bbox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 · queue /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Nguyên tắc: chỉ Backend ghi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E9DAD-4702-4889-9603-DBA811B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08 ·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0BFC-3799-4073-B1D5-A8A47C7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Lõi end-to-end đã chạy; đánh giá khoa học còn thiếu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8D632-A514-4AB9-BD28-5FFBB2B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578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6F7F0"/>
          </a:solidFill>
          <a:ln xmlns:a="http://schemas.openxmlformats.org/drawingml/2006/main" w="9525">
            <a:solidFill>
              <a:srgbClr val="A6DC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E98-F6B4-43DD-BD66-073D5B1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5B"/>
                </a:solidFill>
                <a:latin typeface="Arial"/>
                <a:ea typeface="Arial"/>
                <a:cs typeface="Arial"/>
              </a:rPr>
              <a:t>ĐÃ LÀM ĐƯỢC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07EE-19EF-4796-8020-68516F3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343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Auth/RBAC, tài liệu/version, audit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Upload → OCR → chunk → embed → index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RAG thật + local LLM/VLM + citations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Flutter Web/Android + SSE + Snap &amp; Ask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Docker, Nginx, CI/CD và deploy nội bộ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C813A-E8CC-44C4-90C1-0A300BC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343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9C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OCR spike nhỏ: EN 100% · VI 89,6%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(8 câu; chưa phải benchmark cuối)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F40D-70A7-46A2-92A1-C6934BA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4864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824E-3C76-4D60-BD23-512C3BE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CHƯA HOÀN THIỆN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8DF25-7EC8-425D-ACBC-F14EE19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514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Dataset VI/EN và degradation set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Eval set + harness đo Recall / faithfulness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OCR preprocessing để giảm lỗi dấu tiếng Việt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Upload progress thời gian thực hoàn chỉnh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Pilot/UAT trên một dây chuyền thực tế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C1F4A-4A77-4DA7-B4AC-F9603FB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514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6B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Không công bố Recall 95,4% hay 0% hallucination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khi chưa có eval set tái lập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9DBE-7262-40E9-A06C-99FD583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895E-1F61-4917-8577-32720B3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FAE93-5FE7-4E81-8F78-DD49FFB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2893756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24C08-B0E2-4CBB-8498-80F960F7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09 ·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3324-ED05-4E2F-9F8B-9EFA278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 bài học quyết định chất lượng của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EB43A-4467-4A41-8ADC-89D0CA9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1A36C-5199-41DA-9EE9-BF02C3E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576D-8D70-4188-83E2-EAB1D784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trước, code sau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2AC7-7DCB-43D1-9F42-553675F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Chốt ranh giới Backend ↔ AI giúp thay OCR, vector DB hoặc LLM mà không phá nghiệp vụ.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8D25F-6881-4394-83D9-37B088FC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C2CC6-E433-4F44-820F-7625F6F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DFE69-B2B4-4E35-85CC-A567059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Đo thật thay vì tuyên bố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DA5EA-27FC-45BD-B264-90ECA9F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E2E và benchmark tái lập quan trọng hơn KPI đẹp nhưng không có dataset và ground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5EAB7-9D82-4D22-8234-CAB77742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36F95-3051-461B-9C40-9ED7EA9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1967-2874-4438-9A0D-45345F9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 toàn là một hệ thống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891B2-5565-4280-8ACC-FF068F5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RBAC, version, retrieval, guardrail, citation và audit cùng tạo niềm tin — không phải riêng mô hình.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16386-3ECD-4B50-BEEA-C4B5EC4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DCID đã chứng minh một kiến trúc khả thi cho trợ lý tri thức công nghiệp on-premise.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69D36-A828-4B11-A79F-A23D469F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D0F6"/>
                </a:solidFill>
                <a:latin typeface="Arial"/>
                <a:ea typeface="Arial"/>
                <a:cs typeface="Arial"/>
              </a:rPr>
              <a:t>Bước tiếp theo: hoàn thiện eval → pilot một dây chuyền → đo tác động vận hành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18113-B9EE-4094-901F-7541BF0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6D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Q&amp;A / LIVE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5A1B7-130C-4524-9CF7-A287A97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AA537-707D-41FA-AF06-7372973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4EB6E-D622-4464-B254-4123FEE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898010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2026-08-19T13:46:09.0650000Z</dcterms:created>
  <dcterms:modified xsi:type="dcterms:W3CDTF">2026-08-19T13:46:09.0650000Z</dcterms:modified>
</coreProperties>
</file>