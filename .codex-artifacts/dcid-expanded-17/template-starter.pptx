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393501af6f4e5d" /><Relationship Type="http://schemas.openxmlformats.org/officeDocument/2006/relationships/extended-properties" Target="/docProps/app.xml" Id="Rf2ca7720e06a49f8" /><Relationship Type="http://schemas.openxmlformats.org/officeDocument/2006/relationships/officeDocument" Target="/ppt/presentation.xml" Id="R8a00f99aa36c41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8c944d5a524319"/>
  </p:sldMasterIdLst>
  <p:notesMasterIdLst>
    <p:notesMasterId xmlns:r="http://schemas.openxmlformats.org/officeDocument/2006/relationships" r:id="R3c8ae4b7f3f14767"/>
  </p:notesMasterIdLst>
  <p:sldIdLst>
    <p:sldId xmlns:r="http://schemas.openxmlformats.org/officeDocument/2006/relationships" id="256" r:id="R76a68480b5f04d92"/>
    <p:sldId xmlns:r="http://schemas.openxmlformats.org/officeDocument/2006/relationships" id="257" r:id="R92563886a2534779"/>
    <p:sldId xmlns:r="http://schemas.openxmlformats.org/officeDocument/2006/relationships" id="258" r:id="R01336fdfda4245e4"/>
    <p:sldId xmlns:r="http://schemas.openxmlformats.org/officeDocument/2006/relationships" id="259" r:id="Rc0d856de3b7c4b01"/>
    <p:sldId xmlns:r="http://schemas.openxmlformats.org/officeDocument/2006/relationships" id="260" r:id="R903acf52948d4336"/>
    <p:sldId xmlns:r="http://schemas.openxmlformats.org/officeDocument/2006/relationships" id="261" r:id="R5d2a3aef57884645"/>
    <p:sldId xmlns:r="http://schemas.openxmlformats.org/officeDocument/2006/relationships" id="262" r:id="R4f85bbda0d194e31"/>
    <p:sldId xmlns:r="http://schemas.openxmlformats.org/officeDocument/2006/relationships" id="263" r:id="R297dff3040b84732"/>
    <p:sldId xmlns:r="http://schemas.openxmlformats.org/officeDocument/2006/relationships" id="264" r:id="Re6d3bed2aacc4a30"/>
    <p:sldId xmlns:r="http://schemas.openxmlformats.org/officeDocument/2006/relationships" id="265" r:id="Re9681bd8905b449d"/>
    <p:sldId xmlns:r="http://schemas.openxmlformats.org/officeDocument/2006/relationships" id="266" r:id="R00e17ccee8c148bc"/>
    <p:sldId xmlns:r="http://schemas.openxmlformats.org/officeDocument/2006/relationships" id="267" r:id="R8faf2644c09746fb"/>
    <p:sldId xmlns:r="http://schemas.openxmlformats.org/officeDocument/2006/relationships" id="268" r:id="R6032ca3b5708409b"/>
    <p:sldId xmlns:r="http://schemas.openxmlformats.org/officeDocument/2006/relationships" id="269" r:id="R3cb763bf89fb4dae"/>
    <p:sldId xmlns:r="http://schemas.openxmlformats.org/officeDocument/2006/relationships" id="270" r:id="R780e208e2722488d"/>
    <p:sldId xmlns:r="http://schemas.openxmlformats.org/officeDocument/2006/relationships" id="271" r:id="R6f281fd192ac4fa9"/>
    <p:sldId xmlns:r="http://schemas.openxmlformats.org/officeDocument/2006/relationships" id="272" r:id="R2475e4e3ea6f4e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3d312058bc4eef" /><Relationship Type="http://schemas.openxmlformats.org/officeDocument/2006/relationships/slideMaster" Target="/ppt/slideMasters/slideMaster1.xml" Id="R1f8c944d5a524319" /><Relationship Type="http://schemas.openxmlformats.org/officeDocument/2006/relationships/notesMaster" Target="/ppt/notesMasters/notesMaster1.xml" Id="R3c8ae4b7f3f14767" /><Relationship Type="http://schemas.openxmlformats.org/officeDocument/2006/relationships/presProps" Target="/ppt/presProps.xml" Id="R12eb044b0d914cb3" /><Relationship Type="http://schemas.openxmlformats.org/officeDocument/2006/relationships/tableStyles" Target="/ppt/tableStyles.xml" Id="R8d77b3377ea14009" /><Relationship Type="http://schemas.openxmlformats.org/officeDocument/2006/relationships/slide" Target="/ppt/slides/slide1.xml" Id="R76a68480b5f04d92" /><Relationship Type="http://schemas.openxmlformats.org/officeDocument/2006/relationships/slide" Target="/ppt/slides/slide2.xml" Id="R92563886a2534779" /><Relationship Type="http://schemas.openxmlformats.org/officeDocument/2006/relationships/slide" Target="/ppt/slides/slide3.xml" Id="R01336fdfda4245e4" /><Relationship Type="http://schemas.openxmlformats.org/officeDocument/2006/relationships/slide" Target="/ppt/slides/slide4.xml" Id="Rc0d856de3b7c4b01" /><Relationship Type="http://schemas.openxmlformats.org/officeDocument/2006/relationships/slide" Target="/ppt/slides/slide5.xml" Id="R903acf52948d4336" /><Relationship Type="http://schemas.openxmlformats.org/officeDocument/2006/relationships/slide" Target="/ppt/slides/slide6.xml" Id="R5d2a3aef57884645" /><Relationship Type="http://schemas.openxmlformats.org/officeDocument/2006/relationships/slide" Target="/ppt/slides/slide7.xml" Id="R4f85bbda0d194e31" /><Relationship Type="http://schemas.openxmlformats.org/officeDocument/2006/relationships/slide" Target="/ppt/slides/slide8.xml" Id="R297dff3040b84732" /><Relationship Type="http://schemas.openxmlformats.org/officeDocument/2006/relationships/slide" Target="/ppt/slides/slide9.xml" Id="Re6d3bed2aacc4a30" /><Relationship Type="http://schemas.openxmlformats.org/officeDocument/2006/relationships/slide" Target="/ppt/slides/slide10.xml" Id="Re9681bd8905b449d" /><Relationship Type="http://schemas.openxmlformats.org/officeDocument/2006/relationships/slide" Target="/ppt/slides/slide11.xml" Id="R00e17ccee8c148bc" /><Relationship Type="http://schemas.openxmlformats.org/officeDocument/2006/relationships/slide" Target="/ppt/slides/slide12.xml" Id="R8faf2644c09746fb" /><Relationship Type="http://schemas.openxmlformats.org/officeDocument/2006/relationships/slide" Target="/ppt/slides/slide13.xml" Id="R6032ca3b5708409b" /><Relationship Type="http://schemas.openxmlformats.org/officeDocument/2006/relationships/slide" Target="/ppt/slides/slide14.xml" Id="R3cb763bf89fb4dae" /><Relationship Type="http://schemas.openxmlformats.org/officeDocument/2006/relationships/slide" Target="/ppt/slides/slide15.xml" Id="R780e208e2722488d" /><Relationship Type="http://schemas.openxmlformats.org/officeDocument/2006/relationships/slide" Target="/ppt/slides/slide16.xml" Id="R6f281fd192ac4fa9" /><Relationship Type="http://schemas.openxmlformats.org/officeDocument/2006/relationships/slide" Target="/ppt/slides/slide17.xml" Id="R2475e4e3ea6f4e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22aaad22904b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9e8bdbae164617" /><Relationship Type="http://schemas.openxmlformats.org/officeDocument/2006/relationships/notesMaster" Target="/ppt/notesMasters/notesMaster1.xml" Id="R0756a043702d46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a071e1fad94c63" /><Relationship Type="http://schemas.openxmlformats.org/officeDocument/2006/relationships/notesMaster" Target="/ppt/notesMasters/notesMaster1.xml" Id="R395b676e1bda45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3126e4f7d54055" /><Relationship Type="http://schemas.openxmlformats.org/officeDocument/2006/relationships/notesMaster" Target="/ppt/notesMasters/notesMaster1.xml" Id="Rb39440b6554c4a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65d3b1cce64edd" /><Relationship Type="http://schemas.openxmlformats.org/officeDocument/2006/relationships/notesMaster" Target="/ppt/notesMasters/notesMaster1.xml" Id="R664f8a4bf2f647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789fbecf6c4f99" /><Relationship Type="http://schemas.openxmlformats.org/officeDocument/2006/relationships/notesMaster" Target="/ppt/notesMasters/notesMaster1.xml" Id="R98457fe02cca4b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eab39876664899" /><Relationship Type="http://schemas.openxmlformats.org/officeDocument/2006/relationships/notesMaster" Target="/ppt/notesMasters/notesMaster1.xml" Id="R255317ddc52b47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14911769ce4e34" /><Relationship Type="http://schemas.openxmlformats.org/officeDocument/2006/relationships/notesMaster" Target="/ppt/notesMasters/notesMaster1.xml" Id="R9b5be11546974e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0c41d292a941cc" /><Relationship Type="http://schemas.openxmlformats.org/officeDocument/2006/relationships/notesMaster" Target="/ppt/notesMasters/notesMaster1.xml" Id="Rb34b17eb25034b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8ed85053e64829" /><Relationship Type="http://schemas.openxmlformats.org/officeDocument/2006/relationships/notesMaster" Target="/ppt/notesMasters/notesMaster1.xml" Id="R16711ebf37ff44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89c774eaaa44bf" /><Relationship Type="http://schemas.openxmlformats.org/officeDocument/2006/relationships/notesMaster" Target="/ppt/notesMasters/notesMaster1.xml" Id="R2177334d232541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bcaa450c0049f1" /><Relationship Type="http://schemas.openxmlformats.org/officeDocument/2006/relationships/notesMaster" Target="/ppt/notesMasters/notesMaster1.xml" Id="R345111345f5d42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55bc3396cb4abb" /><Relationship Type="http://schemas.openxmlformats.org/officeDocument/2006/relationships/notesMaster" Target="/ppt/notesMasters/notesMaster1.xml" Id="R46846ce56cd946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f676147cc54e52" /><Relationship Type="http://schemas.openxmlformats.org/officeDocument/2006/relationships/notesMaster" Target="/ppt/notesMasters/notesMaster1.xml" Id="Re66d3788113d4d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8340decefd4f1a" /><Relationship Type="http://schemas.openxmlformats.org/officeDocument/2006/relationships/notesMaster" Target="/ppt/notesMasters/notesMaster1.xml" Id="R077423a88dc04b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3f6ec538aa4587" /><Relationship Type="http://schemas.openxmlformats.org/officeDocument/2006/relationships/notesMaster" Target="/ppt/notesMasters/notesMaster1.xml" Id="R9620120829d341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86773ef5484599" /><Relationship Type="http://schemas.openxmlformats.org/officeDocument/2006/relationships/notesMaster" Target="/ppt/notesMasters/notesMaster1.xml" Id="R4ec92502564342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54718ede334cda" /><Relationship Type="http://schemas.openxmlformats.org/officeDocument/2006/relationships/notesMaster" Target="/ppt/notesMasters/notesMaster1.xml" Id="R5682b0e3d06f40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bài toán ra quyết định kỹ thuật tại hiện trường, không giới thiệu hệ thống như một chatbot PDF thông thường.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project positioning and presentation brief</a:t>
            </a:r>
          </a:p>
          <a:p xmlns:a="http://schemas.openxmlformats.org/drawingml/2006/main">
            <a:r>
              <a:t>- C:\project\new\dcid-web\dcid-app\web\icons\Icon-512.png — project-owned app icon</a:t>
            </a:r>
          </a:p>
          <a:p xmlns:a="http://schemas.openxmlformats.org/drawingml/2006/main">
            <a:r>
              <a:t>- OpenAI image generation — custom hero generated for this deck; prompt recorded in source-notes.txt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từng thành viên trong một câu: tên, vai trò và đầu ra. Thay các placeholder bằng tên thật trước khi trình chiếu.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C:\project\new\dcid-web\docs\PLAN-THESIS.md — five-role responsibility 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tác động vận hành: downtime, an toàn, chất lượng và tuân thủ. Không hứa thay thế chuyên gia; DCID hỗ trợ quyết định có căn cứ.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pain points</a:t>
            </a:r>
          </a:p>
          <a:p xmlns:a="http://schemas.openxmlformats.org/drawingml/2006/main">
            <a:r>
              <a:t>- C:\project\new\dcid-web\README.md — official document governance scope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business là kho tri thức chính thức có quản trị. Guest / Ask là kênh dùng thử, không phải trọng tâm giá trị.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dual-plane and role model</a:t>
            </a:r>
          </a:p>
          <a:p xmlns:a="http://schemas.openxmlformats.org/drawingml/2006/main">
            <a:r>
              <a:t>- C:\Users\HACOM\Downloads\report_presentation (1).md — private/grounded/governed proposition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ranh giới trách nhiệm: backend là single writer của PostgreSQL; AI chỉ nhận contract nội bộ và xử lý tri thức. Đây là quyết định quan trọng nhất của kiến trúc.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C:\project\new\dcid-web\docs\ARCHITECTURE.md — dual-plane architecture</a:t>
            </a:r>
          </a:p>
          <a:p xmlns:a="http://schemas.openxmlformats.org/drawingml/2006/main">
            <a:r>
              <a:t>- C:\project\new\dcid-web\docs\API-CONTRACT.md — backend/AI contract</a:t>
            </a:r>
          </a:p>
          <a:p xmlns:a="http://schemas.openxmlformats.org/drawingml/2006/main">
            <a:r>
              <a:t>- C:\Users\HACOM\Downloads\report_presentation (1).md — architecture 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danh sách công nghệ. Nêu tiêu chí chọn: phân tách trách nhiệm, chạy on-premise, chịu lỗi và đủ nhẹ cho hạ tầng 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repository stack</a:t>
            </a:r>
          </a:p>
          <a:p xmlns:a="http://schemas.openxmlformats.org/drawingml/2006/main">
            <a:r>
              <a:t>- C:\project\new\dcid-web\docker-compose.yml — deployed services</a:t>
            </a:r>
          </a:p>
          <a:p xmlns:a="http://schemas.openxmlformats.org/drawingml/2006/main">
            <a:r>
              <a:t>- C:\project\new\dcid-web\docs\ARCHITECTURE.md — technology decisions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danh sách công nghệ. Nêu tiêu chí chọn: phân tách trách nhiệm, chạy on-premise, chịu lỗi và đủ nhẹ cho hạ tầng 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repository stack</a:t>
            </a:r>
          </a:p>
          <a:p xmlns:a="http://schemas.openxmlformats.org/drawingml/2006/main">
            <a:r>
              <a:t>- C:\project\new\dcid-web\docker-compose.yml — deployed services</a:t>
            </a:r>
          </a:p>
          <a:p xmlns:a="http://schemas.openxmlformats.org/drawingml/2006/main">
            <a:r>
              <a:t>- C:\project\new\dcid-web\docs\ARCHITECTURE.md — technology decisions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case A chứng minh governance và giá trị vận hành. Use case B chứng minh cô lập dữ liệu và trải nghiệm không cần tài khoản.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official and guest workflows</a:t>
            </a:r>
          </a:p>
          <a:p xmlns:a="http://schemas.openxmlformats.org/drawingml/2006/main">
            <a:r>
              <a:t>- C:\Users\HACOM\Downloads\report_presentation (1).md — dual-system workflows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theo 5 bước. Nhấn mạnh ingestion chạy nền để upload không phải chờ OCR/embedding, và metadata không gian được giữ xuyên suốt.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ingestion sequence</a:t>
            </a:r>
          </a:p>
          <a:p xmlns:a="http://schemas.openxmlformats.org/drawingml/2006/main">
            <a:r>
              <a:t>- C:\project\new\dcid-web\dcid-ai\app\pipeline\ocr.py — hybrid extraction</a:t>
            </a:r>
          </a:p>
          <a:p xmlns:a="http://schemas.openxmlformats.org/drawingml/2006/main">
            <a:r>
              <a:t>- C:\project\new\dcid-web\docs\API-CONTRACT.md — ingest callback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theo 5 bước. Nhấn mạnh ingestion chạy nền để upload không phải chờ OCR/embedding, và metadata không gian được giữ xuyên suốt.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ingestion sequence</a:t>
            </a:r>
          </a:p>
          <a:p xmlns:a="http://schemas.openxmlformats.org/drawingml/2006/main">
            <a:r>
              <a:t>- C:\project\new\dcid-web\dcid-ai\app\pipeline\ocr.py — hybrid extraction</a:t>
            </a:r>
          </a:p>
          <a:p xmlns:a="http://schemas.openxmlformats.org/drawingml/2006/main">
            <a:r>
              <a:t>- C:\project\new\dcid-web\docs\API-CONTRACT.md — ingest callback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quan trọng nhất. Trình bày theo thứ tự: policy trước retrieval, guardrail trước generation, và luôn có bằng chứng hoặc từ chối. Không dùng tuyên bố tuyệt đối '0% hallucination'.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C:\project\new\dcid-web\dcid-backend\src\main\java\vn\dcid\service\QueryService.java — allowed ACTIVE versions by role</a:t>
            </a:r>
          </a:p>
          <a:p xmlns:a="http://schemas.openxmlformats.org/drawingml/2006/main">
            <a:r>
              <a:t>- C:\project\new\dcid-web\dcid-ai\app\services\query_service.py — RAG orchestration</a:t>
            </a:r>
          </a:p>
          <a:p xmlns:a="http://schemas.openxmlformats.org/drawingml/2006/main">
            <a:r>
              <a:t>- C:\project\new\dcid-web\dcid-ai\app\pipeline\guardrails.py — threshold and numeric 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quan trọng nhất. Trình bày theo thứ tự: policy trước retrieval, guardrail trước generation, và luôn có bằng chứng hoặc từ chối. Không dùng tuyên bố tuyệt đối '0% hallucination'.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C:\project\new\dcid-web\dcid-backend\src\main\java\vn\dcid\service\QueryService.java — allowed ACTIVE versions by role</a:t>
            </a:r>
          </a:p>
          <a:p xmlns:a="http://schemas.openxmlformats.org/drawingml/2006/main">
            <a:r>
              <a:t>- C:\project\new\dcid-web\dcid-ai\app\services\query_service.py — RAG orchestration</a:t>
            </a:r>
          </a:p>
          <a:p xmlns:a="http://schemas.openxmlformats.org/drawingml/2006/main">
            <a:r>
              <a:t>- C:\project\new\dcid-web\dcid-ai\app\pipeline\guardrails.py — threshold and numeric 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toàn bộ schema. Nêu ba quan hệ cốt lõi: document–version, version–page, query–matched version; sau đó giải thích polyglot persistence.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C:\project\new\dcid-web\docs\ERD.md — relational schema and storage separation</a:t>
            </a:r>
          </a:p>
          <a:p xmlns:a="http://schemas.openxmlformats.org/drawingml/2006/main">
            <a:r>
              <a:t>- C:\project\new\dcid-web\dcid-backend\src\main\resources\db\migration — implemented schema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toàn bộ schema. Nêu ba quan hệ cốt lõi: document–version, version–page, query–matched version; sau đó giải thích polyglot persistence.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C:\project\new\dcid-web\docs\ERD.md — relational schema and storage separation</a:t>
            </a:r>
          </a:p>
          <a:p xmlns:a="http://schemas.openxmlformats.org/drawingml/2006/main">
            <a:r>
              <a:t>- C:\project\new\dcid-web\dcid-backend\src\main\resources\db\migration — implemented schema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ranh giới trách nhiệm: backend là single writer của PostgreSQL; AI chỉ nhận contract nội bộ và xử lý tri thức. Đây là quyết định quan trọng nhất của kiến trúc.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C:\project\new\dcid-web\docs\ARCHITECTURE.md — dual-plane architecture</a:t>
            </a:r>
          </a:p>
          <a:p xmlns:a="http://schemas.openxmlformats.org/drawingml/2006/main">
            <a:r>
              <a:t>- C:\project\new\dcid-web\docs\API-CONTRACT.md — backend/AI contract</a:t>
            </a:r>
          </a:p>
          <a:p xmlns:a="http://schemas.openxmlformats.org/drawingml/2006/main">
            <a:r>
              <a:t>- C:\Users\HACOM\Downloads\report_presentation (1).md — architecture 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Tách rõ implemented và measured. Đây là cách trả lời an toàn nếu hội đồng hỏi 'số liệu lấy ở đâu'. Chỉ dùng baseline có mô tả mẫu đo.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verified implementation status updated 2026-08-06</a:t>
            </a:r>
          </a:p>
          <a:p xmlns:a="http://schemas.openxmlformats.org/drawingml/2006/main">
            <a:r>
              <a:t>- C:\project\new\dcid-web\docs\PLAN-THESIS.md — OCR spike and pending evaluation 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kết luận có thể bảo vệ: kiến trúc đã chạy, giá trị đã rõ, nhưng cần đánh giá và pilot trước khi khẳng định hiệu quả sản xuất. Sau đó chuyển sang live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implementation lessons and next milestones</a:t>
            </a:r>
          </a:p>
          <a:p xmlns:a="http://schemas.openxmlformats.org/drawingml/2006/main">
            <a:r>
              <a:t>- C:\project\new\dcid-web\docs\SETUP.md — E2E issues and fixes</a:t>
            </a:r>
          </a:p>
          <a:p xmlns:a="http://schemas.openxmlformats.org/drawingml/2006/main">
            <a:r>
              <a:t>- C:\project\new\dcid-web\docs\PLAN-THESIS.md — evaluation plan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adc3f26f549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997a3dda6c4408" /><Relationship Type="http://schemas.openxmlformats.org/officeDocument/2006/relationships/slideLayout" Target="/ppt/slideLayouts/slideLayout1.xml" Id="R5ddaeb5f596647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daeb5f596647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5e1c102044d81" /><Relationship Type="http://schemas.openxmlformats.org/officeDocument/2006/relationships/image" Target="/ppt/media/image.png" Id="Rd9ac9cb3a27e4207" /><Relationship Type="http://schemas.openxmlformats.org/officeDocument/2006/relationships/image" Target="/ppt/media/image2.png" Id="Re5f340bb7fc043d2" /><Relationship Type="http://schemas.openxmlformats.org/officeDocument/2006/relationships/notesSlide" Target="/ppt/notesSlides/notesSlide1.xml" Id="R8c8d998430e94f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5740b20234cc0" /><Relationship Type="http://schemas.openxmlformats.org/officeDocument/2006/relationships/notesSlide" Target="/ppt/notesSlides/notesSlide2.xml" Id="R3dc48555784448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a24dac2e94106" /><Relationship Type="http://schemas.openxmlformats.org/officeDocument/2006/relationships/notesSlide" Target="/ppt/notesSlides/notesSlide3.xml" Id="Rf0311949c7ff4f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6ff5de3a2413b" /><Relationship Type="http://schemas.openxmlformats.org/officeDocument/2006/relationships/notesSlide" Target="/ppt/notesSlides/notesSlide4.xml" Id="Rd7b19c11b05d44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a299c29d44e98" /><Relationship Type="http://schemas.openxmlformats.org/officeDocument/2006/relationships/notesSlide" Target="/ppt/notesSlides/notesSlide5.xml" Id="Rf5e9b347344e48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7549bd49d47fb" /><Relationship Type="http://schemas.openxmlformats.org/officeDocument/2006/relationships/notesSlide" Target="/ppt/notesSlides/notesSlide6.xml" Id="R41eb64bceafc48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fb98d58144adc" /><Relationship Type="http://schemas.openxmlformats.org/officeDocument/2006/relationships/notesSlide" Target="/ppt/notesSlides/notesSlide7.xml" Id="R8a2b9173f08640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ecdae2b244e6d" /><Relationship Type="http://schemas.openxmlformats.org/officeDocument/2006/relationships/notesSlide" Target="/ppt/notesSlides/notesSlide8.xml" Id="Re3e689b70c104b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02e7c959643e8" /><Relationship Type="http://schemas.openxmlformats.org/officeDocument/2006/relationships/notesSlide" Target="/ppt/notesSlides/notesSlide9.xml" Id="Ra56bc0c1c3d849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ad4f8d88a4845" /><Relationship Type="http://schemas.openxmlformats.org/officeDocument/2006/relationships/notesSlide" Target="/ppt/notesSlides/notesSlide10.xml" Id="Raca4e38b19b848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4dae8f5254c4d" /><Relationship Type="http://schemas.openxmlformats.org/officeDocument/2006/relationships/notesSlide" Target="/ppt/notesSlides/notesSlide11.xml" Id="R8029f01d680a47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8b7a1255343ce" /><Relationship Type="http://schemas.openxmlformats.org/officeDocument/2006/relationships/notesSlide" Target="/ppt/notesSlides/notesSlide12.xml" Id="Ra169e6ac516248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7284e1c164d0f" /><Relationship Type="http://schemas.openxmlformats.org/officeDocument/2006/relationships/notesSlide" Target="/ppt/notesSlides/notesSlide13.xml" Id="R50ea5ddb132b47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e45f9ba564571" /><Relationship Type="http://schemas.openxmlformats.org/officeDocument/2006/relationships/notesSlide" Target="/ppt/notesSlides/notesSlide14.xml" Id="Ra680369165cc4c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8c70d0cd342de" /><Relationship Type="http://schemas.openxmlformats.org/officeDocument/2006/relationships/notesSlide" Target="/ppt/notesSlides/notesSlide15.xml" Id="R91cc834d37c745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069b517944fd2" /><Relationship Type="http://schemas.openxmlformats.org/officeDocument/2006/relationships/notesSlide" Target="/ppt/notesSlides/notesSlide16.xml" Id="R1a3b3590899143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61c7577244f6b" /><Relationship Type="http://schemas.openxmlformats.org/officeDocument/2006/relationships/notesSlide" Target="/ppt/notesSlides/notesSlide17.xml" Id="Rc35fe7029a4c46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c9cb3a27e4207"/>
          <a:srcRect xmlns:a="http://schemas.openxmlformats.org/drawingml/2006/main" l="0" t="12145" r="0" b="12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0"/>
            <a:ext cx="60388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FE3A5-747F-405A-9E55-AE34ED19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16764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340bb7fc043d2"/>
          <a:stretch xmlns:a="http://schemas.openxmlformats.org/drawingml/2006/main"/>
        </p:blipFill>
        <p:spPr>
          <a:xfrm xmlns:a="http://schemas.openxmlformats.org/drawingml/2006/main">
            <a:off x="533400" y="4000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CE03F-4117-468C-99FB-E1F16C14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PROJECT SEM4 ·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4E8CB-D064-4713-BB3D-81B1FFC6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DCID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E9A1A-F29D-49C3-9C4B-72AA9015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Digital Cognitive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Industrial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97EF4-5E73-4E85-9CB0-EC15D14E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8A65C-8E6E-4323-9D95-F2FBA839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Đúng tri thức · Đúng phiên bản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Ngay tại hiện trường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5B13B-FC65-4DD0-8E3C-C53DDBCC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Trợ lý tri thức kỹ thuật on-premise cho nhà máy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F407A-5AB4-4730-9513-6807F2E0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Nhóm thực hiện: Nhóm DCID</a:t>
            </a:r>
          </a:p>
        </p:txBody>
      </p:sp>
    </p:spTree>
    <p:extLst>
      <p:ext uri="{BB962C8B-B14F-4D97-AF65-F5344CB8AC3E}">
        <p14:creationId xmlns:p14="http://schemas.microsoft.com/office/powerpoint/2010/main" val="463491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8AE958-3270-4368-AFF5-52AE64C1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 ·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33F69-0A53-4750-B377-B2FD7999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 vai trò, một luồng bàn giao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1CBB8-22C4-4FA7-9E3D-0DE2C4D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Tên thành viên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E7E92-09C2-4E15-BFB3-97C80718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811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Phụ trách chính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864AB-13C5-4DF0-A5B7-E1020628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81150"/>
            <a:ext cx="4276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Đầu ra chịu trách nhiệm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E9618-E426-4A05-93F2-CBB95931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CAF29-58F4-4C61-8012-E2DD0B88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1CD78-04B9-452C-ACC6-A66E24D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5E155-F433-4827-AF66-17A54889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431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Phạm Hải Đông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D71CD-DBDD-48E7-8C62-9239388C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431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Leader · Backend ·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CC5E5-B3E7-47B7-ADE1-BAED2237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Điều phối · Auth/RBAC · version ·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C29F2-AAFE-411D-93D0-98DC43C1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53C05-7A78-436E-8D32-A8B0655C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241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Lê Nhật Huy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77554-4900-4CAA-8440-F654F231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241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Phó nhóm · AI/RAG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2EF0A-44B5-435B-88F7-B9378E06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24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 · RAG · guardrail · tích hợp Backend–AI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DBE3A-CF8E-4BEE-BF67-7DBEA1DF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7B942-B117-4D0C-8507-C6187113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79EE6-F17F-4A1A-B448-652A77B4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Phạm Anh Vũ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7DFB2-A25C-411D-9547-E46EA7C0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05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Backend / Full-stack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9D23F-CD13-4089-B70C-C60DEFC2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052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API · dữ liệu · tích hợp giao diện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8B51F-55A8-47DA-AAD8-134EC088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FF4B6-DAB5-4D18-AF6E-29EC103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862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Nguyễn Minh Hà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701B5-24C3-47E8-9F8F-A8CD3EB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862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Data · Evaluation · Tài liệu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69899-AE26-4A58-8782-FF64EBD6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Dataset · eval · chuẩn hóa tài liệu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E37E1-CF2E-4037-9E2B-23D4F142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244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B84BF0-C40F-465D-AA0E-93717E3A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5AD0F4-7512-4327-8A64-3E338390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673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Dương Anh Vũ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CED76-E36F-4EEF-83CF-EDD5BFAE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67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Frontend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7C59D-4C15-46FF-BCCB-A8A893E5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673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Web kiosk · Android · citation viewer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38406A-72DE-4790-BB2D-FD0F4198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6787A-6D15-4913-B858-5B9C3BA3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5AA993-30A1-43A2-9011-58974F60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420131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C779B-4351-4D9B-ADE7-DE419899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4441D-73F7-4AE3-AD63-798D138D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Bài toán thật: tìm đúng tài liệu dưới áp lực hiện trường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68EE6-E13F-43A3-8A24-9DF52D26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Khi máy dừng, kỹ sư không cần thêm một chatbot — họ cần bằng chứng kỹ thuật đúng, có hiệu lực và được phép xem.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5D442-BE7B-4898-BED2-85FE98F6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7FE9E-EC3E-42BD-A2EA-B54FC5E8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2AE5C-2801-4C5A-8A44-3C7930AF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phân tán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6ACCE-C7BA-43AC-AE0A-B34F385A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SOP, manual và bản vẽ nằm ở nhiều nơi; tìm thủ công làm tăng thời gian xử lý sự cố.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5EF48-1D7B-40D5-B08E-2B4D10DE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E33BF-45F2-42AD-A273-A948BE49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Nhiều phiên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85B46-03A0-49CF-9FC5-4811FA89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Dùng nhầm bản cũ có thể tạo thao tác sai, ảnh hưởng an toàn, chất lượng và tuân thủ.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4DC15-8579-40B6-83D0-10D439D5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19789-00F8-4C4D-A461-FD664F12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Không thể đưa lên cloud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EA633-6E80-4CA0-9D23-D72D6839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Bản vẽ và quy trình nội bộ chứa bí mật công nghệ, cần giữ trong mạng nhà máy.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FF5BF-7AF4-4F62-83FF-A012E699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1D376-05CF-43D7-B65B-86202050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có thể suy đoán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22C4D-5A24-4937-90DF-165AF471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con số sai về điện áp, áp suất hoặc dung sai có thể gây hậu quả vận hành nghiêm trọng.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43C0E-0B48-4227-8855-32573AFD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27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Mục tiêu kinh doanh: giảm thời gian tìm tri thức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 giảm rủi ro quyết định sai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AD2C2-A9AB-484C-B657-2B8D1C53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2C2ED-3D52-4A2A-865C-73491DAA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D5144-A6E8-48E7-BDA4-B17A9009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642483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477D5-4627-479F-8E98-2D967E48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6734E-E05B-42D0-BBAE-2BE776B8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DCID trả lời từ tài liệu có kiểm soát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03C13-438E-44BA-93A4-8F86E6EA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 cam kết sản phẩm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66492-89D8-4BE2-B79E-B8B3EE61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PRIVATE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9DF7D-29B5-4519-AF57-4AE96DD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Chạy on-premise; dữ liệu không rời hệ thống nội bộ.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03BD1-6D6E-44A8-AE81-D0F63E90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9E0CD-2579-4068-A040-ECC4B1C6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GROUNDED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9153F-C6BA-4639-80BB-6FEE8DEF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623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Câu trả lời gắn trang, đoạn trích và vị trí nguồn.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E626E-11B4-4963-B0BE-EF4956BA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5C063-948D-4653-BB0B-0AEF7097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4E320-467D-45F7-9D1B-DEFF5682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phiên bản ACTIVE, audit và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0D22F-B668-4D3D-9FE8-CD9FEC5A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DB346-330F-4A95-BD4C-8F241B7C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7912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F1DDC-E9F7-4C73-ADDB-8BBE5917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Người dùng và công việc chính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57037-D86B-4929-AD67-883CEA47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93F08-7024-44F3-9200-CFC50F48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SOP vận hành và an toàn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5DC30-6917-49AD-876C-106E948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FEC1E-851D-4F31-9826-BA1BF2E9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bản vẽ, lỗi máy, thông số và hướng dẫn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8E3DC-D815-4FB6-9D30-4E76712C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QA_ADMIN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51D95-6181-412D-8444-7309CAB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Upload, quản lý phiên bản và phát hành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868E5-E865-45C9-8E26-071CDFE9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28EE8-05BA-4AEC-892C-DB304F56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trị người dùng, audit và hệ thống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7F62F-DF23-47C4-B464-E9DD37F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57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4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4E7"/>
                </a:solidFill>
                <a:latin typeface="Arial"/>
                <a:ea typeface="Arial"/>
                <a:cs typeface="Arial"/>
              </a:rPr>
              <a:t>Kênh phụ trợ: Guest / Ask cho dùng thử tài liệu tạm thời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7AC62-8B3C-4D50-A911-EE15D92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95CB-A8F3-49FD-80F3-85FC5733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6908F-05D1-402D-AAD2-CA8D501D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087499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66754-DF2B-400A-AF1A-9FA2E722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8820-9BC0-4076-9E9B-76AA696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Dual-plane tách quản trị nghiệp vụ khỏi xử lý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D7CDD-8B5A-4779-ABC0-40B269EE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90700"/>
            <a:ext cx="3048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7A237-DDB5-4DE5-92F8-E34FD68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48025"/>
            <a:ext cx="628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219F5-F4BF-47AA-A683-8F69024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598F2-7842-45B8-B042-A04C2A38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4299-77A7-43E3-838A-604D5E7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90650"/>
            <a:ext cx="4381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CLIENTS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Web kiosk · Admin · Android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70E9D-0F18-47B3-B06C-5B2C529F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72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A2D47"/>
          </a:solidFill>
          <a:ln xmlns:a="http://schemas.openxmlformats.org/drawingml/2006/main" w="9525">
            <a:solidFill>
              <a:srgbClr val="3552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C00E7-B302-479E-B464-9EC58BD9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GOVERNANCE PLANE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FF42B-547B-4B68-9A04-8EB5D7E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3.3 · Java 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DCAD9-E79B-459C-BD88-23C9AAAB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Auth / RBAC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Document &amp; version lifecycle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Guest session &amp; TTL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Audit · API · file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FFCDF-5DC1-4989-A367-2A11FC42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5772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73451"/>
          </a:solidFill>
          <a:ln xmlns:a="http://schemas.openxmlformats.org/drawingml/2006/main" w="9525">
            <a:solidFill>
              <a:srgbClr val="3A6E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9821A-A1EE-4F84-BAEC-7C07DF38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AI INTELLIGENCE PLANE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0974F-AA08-49C0-8017-4360117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 · Celery · Local LLM/VLM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089B8-ABB8-4F1F-8926-3FBA22F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OCR / vision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Chunk + embedding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Hybrid retrieval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Guardrail + grounded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037FE-688D-4331-870C-D29D5E9C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nghiệp vụ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772AA-4B9F-40C5-A9B1-CD5FACE3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PDF / ảnh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97DDF-1E50-4FCF-9F3E-F66D6D9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vector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F3A07-E3C6-4E7A-8E9B-2E71FB9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queue /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7C900-8668-4405-9125-2AEC9EE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1C82D-6DAE-44DD-BC6D-9EBF79D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7364-BCD9-4DAB-821E-B0131C7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332355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896D7-DFCF-4B27-B621-5EB403F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 ·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D7E6E-0ADF-40BD-B109-9E5F7B9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Mỗi công nghệ giữ một trách nhiệm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8A0EB-E5A6-4F8F-B37A-B1D055D4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LỚP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FB2C9-6273-415B-AB9F-FD9FE82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85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CÔNG NGHỆ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6006E-1D97-4F3F-AF8D-165C0D8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859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VÌ SAO DÙNG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6D56F-D1FE-4893-8F2C-8C43A18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9BA1C-1703-411F-977D-B9EF8866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2DDB4-4BA3-428E-930F-544E72F7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81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Flutter · Riverpod · Dio · SSE/STOMP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6FDB8-AC50-4491-B046-F3BF19F3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codebase cho Web kiosk và Android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AC210-92FE-4F14-9ADF-125EC6E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A0189-8A57-4314-A030-F2BE5353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Java 21 · Spring Boot · Security · JPA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02CF9-8A4E-41B3-A76B-25B95348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version, audit, API và single-writer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714BA-AF92-47CC-B082-5C8BBC7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C8EC5-1299-4E33-B12D-0396A10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2CF56-ACAE-4717-B286-DE57768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14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· FastAPI · Celery · PyMuPDF · PaddleOCR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D9736-3CCE-44E3-A5E7-57CD0D71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OCR, RAG, vision và xử lý nền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FE1C6-2475-4185-9579-E0C68BDA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79938-A996-4553-9CCB-A9FCCB9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08A3A-5783-46C4-921B-46449065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multilingual-e5 · BM25 · Qdrant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18EFD-C05B-4BF8-8918-45DFE5BE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Bắt cả ý nghĩa lẫn mã máy / mã lỗi chính xác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D9D63-AF00-41B3-A036-EAA32D81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17E1F-ADDC-4F0F-A03C-6362A373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48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· MinIO · Redis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A2225-301B-4078-91E5-D8D525D4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Tách metadata, file nhị phân và hàng đợi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BD4EE-C745-4C22-A35A-BB4CFD0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01C5B-7667-417A-8CA0-49A70BE1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14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Docker Compose · Nginx · GitHub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BA2A7D-5355-4D5C-8AE6-46B2FF9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Đóng gói, triển khai nội bộ và CI/CD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4704-34E9-4D87-AD19-A9A9617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C878D-DE93-4069-9067-9A54A42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60426-4D75-4E24-B7CB-BD287EF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161327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896D7-DFCF-4B27-B621-5EB403F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 ·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D7E6E-0ADF-40BD-B109-9E5F7B9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Mỗi công nghệ giữ một trách nhiệm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8A0EB-E5A6-4F8F-B37A-B1D055D4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LỚP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FB2C9-6273-415B-AB9F-FD9FE82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85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CÔNG NGHỆ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6006E-1D97-4F3F-AF8D-165C0D8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859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VÌ SAO DÙNG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6D56F-D1FE-4893-8F2C-8C43A18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9BA1C-1703-411F-977D-B9EF8866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2DDB4-4BA3-428E-930F-544E72F7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81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Flutter · Riverpod · Dio · SSE/STOMP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6FDB8-AC50-4491-B046-F3BF19F3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codebase cho Web kiosk và Android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AC210-92FE-4F14-9ADF-125EC6E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A0189-8A57-4314-A030-F2BE5353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Java 21 · Spring Boot · Security · JPA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02CF9-8A4E-41B3-A76B-25B95348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version, audit, API và single-writer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714BA-AF92-47CC-B082-5C8BBC7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C8EC5-1299-4E33-B12D-0396A10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2CF56-ACAE-4717-B286-DE57768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14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· FastAPI · Celery · PyMuPDF · PaddleOCR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D9736-3CCE-44E3-A5E7-57CD0D71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OCR, RAG, vision và xử lý nền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FE1C6-2475-4185-9579-E0C68BDA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79938-A996-4553-9CCB-A9FCCB9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08A3A-5783-46C4-921B-46449065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multilingual-e5 · BM25 · Qdrant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18EFD-C05B-4BF8-8918-45DFE5BE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Bắt cả ý nghĩa lẫn mã máy / mã lỗi chính xác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D9D63-AF00-41B3-A036-EAA32D81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17E1F-ADDC-4F0F-A03C-6362A373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48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· MinIO · Redis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A2225-301B-4078-91E5-D8D525D4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Tách metadata, file nhị phân và hàng đợi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BD4EE-C745-4C22-A35A-BB4CFD0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01C5B-7667-417A-8CA0-49A70BE1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14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Docker Compose · Nginx · GitHub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BA2A7D-5355-4D5C-8AE6-46B2FF9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Đóng gói, triển khai nội bộ và CI/CD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4704-34E9-4D87-AD19-A9A9617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C878D-DE93-4069-9067-9A54A42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60426-4D75-4E24-B7CB-BD287EF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161327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87444-BC24-4078-86F0-9EB5E10D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 ·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51DEA-C228-48B5-ACC9-D3E9760A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Hai phân hệ, hai mức tin cậy và vòng đời dữ liệu khác nhau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71D6C-463F-4806-9E95-6173C005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8682A-8662-4DA4-B66D-E3C9A535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 · KHO TÀI LIỆU CHÍNH THỨC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47004-5A74-41D2-AE04-E341F75A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Dùng hằng ngày trong nhà máy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671B1-15E0-4C3F-A89B-7C9EAAED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Đăng nhập JWT và lọc theo RBAC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Upload SOP / manual / bản vẽ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Quản lý version và trạng thái ACTIVE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Hỏi đáp RAG + trích dẫn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Ghi query log và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E9F2E-CEDF-4603-B886-580032DE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0F1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CORE BUSINESS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95406-A54C-4E53-8978-50B215DD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5486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B88F8-A194-4F7E-9928-0CDDBF6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B · GUEST /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306D2-8931-4ECA-9E76-8A811711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Trải nghiệm nhanh với tài liệu tạm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49890-588D-4EF9-AF00-8CA2FF66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cần tài khoản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Session token ngẫu nhiên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File và vector cô lập theo session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TTL 2 giờ; cleanup định kỳ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trộn vào kho chính thức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F732D-F489-463E-9586-0D26A18E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KÊNH DÙNG THỬ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DBD56-A450-4845-A89B-70D9FA36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63FA6-DD9C-4917-830C-12918FCA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2027F-B370-4700-B509-67455958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8408745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16694-9355-4B8F-B5F0-7037BD6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466C-EF02-413D-9CB9-1AEAB5F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được biến thành tri thức có vị trí nguồn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6F080-FC90-4CDE-B61D-AA18B68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94916-E584-43AE-986A-85005935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BC74E-2A81-4E2B-BA38-5AC9315B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70BC2-C9FD-4B03-B0DC-46D37B6C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211B3-5DA4-4685-B34C-C6E4FFC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912EE-6451-4FD0-BFDE-1064EA87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357B5-6841-4CB3-8C2F-5DD4B683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20CFD-5CFD-4C74-83A2-316968B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PDF vào MinIO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Version =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0C236-F22B-4DA2-AE22-714CD4C9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35ADA-78B6-4011-BD8C-D074700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342EC-711C-41FA-8717-2F45A697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89F97-037D-4793-A2A4-0E68814F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Native text hoặc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PaddleOCR 200 DPI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6DF5C-E502-4E8D-9B8B-2A3A0C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28421-2128-47EA-99A5-7993B346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375EA-24DE-44D7-BE33-9826D99B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CHUNK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ABF92-57DC-4E99-8766-C3FD251B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Giữ bảng + Bbox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+ snippet nguồn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9EB5A-B593-430F-800A-05E0834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01DF5-4F97-4EAA-928D-C57065C1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43E26-7C40-4657-85B6-66D51E5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EMBED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0F699-5D9F-4454-A3DD-9F805EEA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multilingual-e5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vector 384 chiều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E8BD9-C6DA-4340-93CE-61B8D690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6439A-BBF5-4EA0-BF4E-5FCDB11F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340D0-B064-4BEA-B4E8-CD9FCF1D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19810-1F42-402F-AECF-2CC29E4F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Qdrant + payload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callback 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E5F39-B720-445C-B993-DD082DC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81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53399B-5CB8-4274-BF1B-5C55A031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Điểm khác biệt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81313-ACF4-422B-9308-E7678D78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482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Mỗi chunk giữ page_no + bbox + snippet, nên câu trả lời có thể mở đúng trang và khoanh đúng vùng bằng chứng.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D0D2F-BCE8-474E-8D90-3BAC237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76750"/>
            <a:ext cx="1104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ASYNC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Celery + Redis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64C4C-DD0E-400F-9D84-CCCDC003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19CA76-FADC-4A46-AF7E-4289950B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13870-1F97-45B3-8AF2-FDE87A4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9066802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16694-9355-4B8F-B5F0-7037BD6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466C-EF02-413D-9CB9-1AEAB5F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được biến thành tri thức có vị trí nguồn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6F080-FC90-4CDE-B61D-AA18B68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94916-E584-43AE-986A-85005935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BC74E-2A81-4E2B-BA38-5AC9315B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70BC2-C9FD-4B03-B0DC-46D37B6C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211B3-5DA4-4685-B34C-C6E4FFC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912EE-6451-4FD0-BFDE-1064EA87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357B5-6841-4CB3-8C2F-5DD4B683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20CFD-5CFD-4C74-83A2-316968B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PDF vào MinIO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Version =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0C236-F22B-4DA2-AE22-714CD4C9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35ADA-78B6-4011-BD8C-D074700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342EC-711C-41FA-8717-2F45A697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89F97-037D-4793-A2A4-0E68814F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Native text hoặc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PaddleOCR 200 DPI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6DF5C-E502-4E8D-9B8B-2A3A0C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28421-2128-47EA-99A5-7993B346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375EA-24DE-44D7-BE33-9826D99B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CHUNK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ABF92-57DC-4E99-8766-C3FD251B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Giữ bảng + Bbox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+ snippet nguồn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9EB5A-B593-430F-800A-05E0834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01DF5-4F97-4EAA-928D-C57065C1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43E26-7C40-4657-85B6-66D51E5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EMBED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0F699-5D9F-4454-A3DD-9F805EEA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multilingual-e5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vector 384 chiều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E8BD9-C6DA-4340-93CE-61B8D690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6439A-BBF5-4EA0-BF4E-5FCDB11F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340D0-B064-4BEA-B4E8-CD9FCF1D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19810-1F42-402F-AECF-2CC29E4F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Qdrant + payload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callback 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E5F39-B720-445C-B993-DD082DC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81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53399B-5CB8-4274-BF1B-5C55A031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Điểm khác biệt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81313-ACF4-422B-9308-E7678D78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482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Mỗi chunk giữ page_no + bbox + snippet, nên câu trả lời có thể mở đúng trang và khoanh đúng vùng bằng chứng.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D0D2F-BCE8-474E-8D90-3BAC237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76750"/>
            <a:ext cx="1104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ASYNC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Celery + Redis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64C4C-DD0E-400F-9D84-CCCDC003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19CA76-FADC-4A46-AF7E-4289950B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13870-1F97-45B3-8AF2-FDE87A4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9066802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612932-A4B8-4B5D-AFFE-2957E8F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7DF79-5522-47A0-B536-DF96E6A8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chỉ đi tới LLM sau khi qua quyền và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04373-B946-4E77-9314-278A255F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57884-D01C-40C6-AA1A-0375F84A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EC851-108C-48DE-A79A-15D2D155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4EA98-FB9A-45DE-AEBC-049863C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A060D-FA7B-44F0-AB5D-57224C8E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4E1CB-F1AF-4FD0-BB59-34F5BCB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175CC-7772-425B-84A1-DBA82578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B584A-9639-4850-98D0-2FA6CADE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61E3E-FED5-4FD8-910D-7B0A75A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855A3-1926-442D-9ABF-E4FA112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889B4-2C55-45A6-9F5B-48D2CB48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RBAC + chỉ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 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93119-07DA-4856-A327-93043E5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9D50C-3853-4776-9161-7EB51FC5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9C652-A2A9-45F2-86EF-78244BC4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9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Dense + BM25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Top-K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C2F80-8104-44C5-ADD0-0E402E9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7A2E2A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95576-9B47-4497-9D07-8913E927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E850B-4107-430F-8D68-38DAC864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gate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 số liệu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4F9A1-0AFC-4F63-B095-697EB13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85522-9851-497C-B258-52293612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D1685-1A96-44B8-B0B6-BF3339D6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LLM/VLM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theo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7E4FA-5A85-475E-BA3D-5E877AFD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EC566-4592-42CF-9A37-5B1D3A0C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24F48-C062-4C07-9249-1D778F0A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Citation + audit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hoặc từ chối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F8876-7B52-46D3-915E-3A0B7A6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257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13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2E8D8-9532-4ABD-8BEC-CFD2D798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F7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F7F0"/>
                </a:solidFill>
                <a:latin typeface="Arial"/>
                <a:ea typeface="Arial"/>
                <a:cs typeface="Arial"/>
              </a:rPr>
              <a:t>Khi bằng chứng đủ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2B6CEF-7960-47F5-AC4C-F45FB69B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+ confidence + citations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người dùng mở trang nguồn để đối chiếu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54AEC-4A69-4263-B47C-9EDA36C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76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4A2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A7EDF-0586-40C0-A9EE-05505A3D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C8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8C4"/>
                </a:solidFill>
                <a:latin typeface="Arial"/>
                <a:ea typeface="Arial"/>
                <a:cs typeface="Arial"/>
              </a:rPr>
              <a:t>Khi bằng chứng yếu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9CE19-93DD-4DB6-BA4B-392E4CC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Khóa hoặc gắn nhãn câu trả lời tham khảo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yêu cầu kỹ sư kiểm tra bản vẽ gốc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E48AB-3FC6-4EF5-A3F8-3DF3D423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10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Thông điệp an toàn: giảm câu trả lời thiếu căn cứ — không tuyên bố AI không bao giờ sai.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9AB39-476E-4F98-AAA2-A2FF584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56CBD-FBE0-4BC6-BE1D-1206319D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BD3A23-8ABB-4D1C-8D2A-FA9D511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7636665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612932-A4B8-4B5D-AFFE-2957E8F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7DF79-5522-47A0-B536-DF96E6A8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chỉ đi tới LLM sau khi qua quyền và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04373-B946-4E77-9314-278A255F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57884-D01C-40C6-AA1A-0375F84A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EC851-108C-48DE-A79A-15D2D155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4EA98-FB9A-45DE-AEBC-049863C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A060D-FA7B-44F0-AB5D-57224C8E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4E1CB-F1AF-4FD0-BB59-34F5BCB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175CC-7772-425B-84A1-DBA82578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B584A-9639-4850-98D0-2FA6CADE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61E3E-FED5-4FD8-910D-7B0A75A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855A3-1926-442D-9ABF-E4FA112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889B4-2C55-45A6-9F5B-48D2CB48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RBAC + chỉ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 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93119-07DA-4856-A327-93043E5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9D50C-3853-4776-9161-7EB51FC5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9C652-A2A9-45F2-86EF-78244BC4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9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Dense + BM25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Top-K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C2F80-8104-44C5-ADD0-0E402E9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7A2E2A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95576-9B47-4497-9D07-8913E927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E850B-4107-430F-8D68-38DAC864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gate +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 số liệu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4F9A1-0AFC-4F63-B095-697EB13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85522-9851-497C-B258-52293612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D1685-1A96-44B8-B0B6-BF3339D6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LLM/VLM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theo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7E4FA-5A85-475E-BA3D-5E877AFD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EC566-4592-42CF-9A37-5B1D3A0C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24F48-C062-4C07-9249-1D778F0A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Citation + audit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hoặc từ chối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F8876-7B52-46D3-915E-3A0B7A6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257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13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2E8D8-9532-4ABD-8BEC-CFD2D798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F7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F7F0"/>
                </a:solidFill>
                <a:latin typeface="Arial"/>
                <a:ea typeface="Arial"/>
                <a:cs typeface="Arial"/>
              </a:rPr>
              <a:t>Khi bằng chứng đủ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2B6CEF-7960-47F5-AC4C-F45FB69B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+ confidence + citations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người dùng mở trang nguồn để đối chiếu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54AEC-4A69-4263-B47C-9EDA36C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76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4A2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A7EDF-0586-40C0-A9EE-05505A3D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C8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8C4"/>
                </a:solidFill>
                <a:latin typeface="Arial"/>
                <a:ea typeface="Arial"/>
                <a:cs typeface="Arial"/>
              </a:rPr>
              <a:t>Khi bằng chứng yếu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9CE19-93DD-4DB6-BA4B-392E4CC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Khóa hoặc gắn nhãn câu trả lời tham khảo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yêu cầu kỹ sư kiểm tra bản vẽ gốc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E48AB-3FC6-4EF5-A3F8-3DF3D423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10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Thông điệp an toàn: giảm câu trả lời thiếu căn cứ — không tuyên bố AI không bao giờ sai.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9AB39-476E-4F98-AAA2-A2FF584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56CBD-FBE0-4BC6-BE1D-1206319D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BD3A23-8ABB-4D1C-8D2A-FA9D511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7636665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A44E89-F41F-4CFA-B657-0454BE06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37259-A456-497C-97BA-61F8272E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giữ nghiệp vụ; file và vector tách riêng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DF35C-A788-4591-85C1-7F8AEA0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67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2098D-A3C2-40C2-A222-A11735E1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0EF23-F888-4584-9D2E-0906470B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0BCEA-8854-4744-9F78-8A089A2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9708D-1C4A-4F33-867F-1369D171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515FC-F6AB-4035-BF45-DD388DF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8FA4C-6451-45BB-B5AF-AE729424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581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0CE97-8B7B-4D2D-9981-3F038A6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3C61F-85E2-4BDF-A43A-E9729AE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role ·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ED3DB-4E07-4F6E-9839-CAA5E88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42486-303D-4ADD-950D-75179557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5C2D3-6E6F-4587-8CFC-B1E2B5A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machine_code · min_role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F8E4F-7B46-46A4-A6B3-9C61516E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3ED2D-1E94-49EF-9315-1E2598C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F0DDE-1262-4903-AA2A-0BE2818B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 · version_no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5D38B-DEA1-4B6C-A55A-C9F5FE38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465F6-D5AC-4534-915D-0EC930B7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QUERY_LOGS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77227-E742-4032-9B9C-4B9C2A2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confidence · locked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CF45C-5450-441B-9860-53C81A6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17EFE-86EA-4B6F-B61D-1C3F82FC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AUDIT_LOGS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7F486-F50A-4BCA-8DD8-23985E22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actor · action ·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1A55E-885F-424F-98BF-C693016D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F0837-9D3E-44EF-92C8-1FFED819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7114A-DB61-457A-9B25-B3D884CB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page_no · image_key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F230D-585B-411A-AF63-DF80F7BB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62B50-5B00-4745-AD0A-311A98B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GUEST SESSIONS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BD874A-E320-460F-980A-C0B997C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815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token_hash · expires_at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DB105-FD01-43C9-9A33-CB88078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664AC7-B186-4726-8B7A-6C635580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CC3FC-1AB2-441A-9C4E-9E7CE073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N →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06C73D-3510-4008-8E2B-46115764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Ngoài PostgreSQL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F957C-B431-420F-8452-EC05C109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768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 · PDF / ảnh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9F53EF-CC21-4211-A4A9-766E5B4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 · vector + bbox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576AAC-7EA7-4257-8B41-8C1D5F6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768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 · queue / cache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84E34-32B9-4022-B345-822D1FC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Nguyên tắc: chỉ Backend ghi PostgreSQL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783CF6-648E-4CCB-A83B-7CA762DA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18DB5-445F-46F1-9D5E-68FE262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E726D1-0321-40AE-8581-5D57DFB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9862245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A44E89-F41F-4CFA-B657-0454BE06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37259-A456-497C-97BA-61F8272E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giữ nghiệp vụ; file và vector tách riêng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DF35C-A788-4591-85C1-7F8AEA0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67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2098D-A3C2-40C2-A222-A11735E1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0EF23-F888-4584-9D2E-0906470B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0BCEA-8854-4744-9F78-8A089A2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9708D-1C4A-4F33-867F-1369D171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515FC-F6AB-4035-BF45-DD388DF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8FA4C-6451-45BB-B5AF-AE729424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581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0CE97-8B7B-4D2D-9981-3F038A6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3C61F-85E2-4BDF-A43A-E9729AE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role ·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ED3DB-4E07-4F6E-9839-CAA5E88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42486-303D-4ADD-950D-75179557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5C2D3-6E6F-4587-8CFC-B1E2B5A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machine_code · min_role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F8E4F-7B46-46A4-A6B3-9C61516E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3ED2D-1E94-49EF-9315-1E2598C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F0DDE-1262-4903-AA2A-0BE2818B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 · version_no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5D38B-DEA1-4B6C-A55A-C9F5FE38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465F6-D5AC-4534-915D-0EC930B7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QUERY_LOGS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77227-E742-4032-9B9C-4B9C2A2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confidence · locked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CF45C-5450-441B-9860-53C81A6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17EFE-86EA-4B6F-B61D-1C3F82FC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AUDIT_LOGS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7F486-F50A-4BCA-8DD8-23985E22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actor · action ·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1A55E-885F-424F-98BF-C693016D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F0837-9D3E-44EF-92C8-1FFED819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7114A-DB61-457A-9B25-B3D884CB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page_no · image_key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F230D-585B-411A-AF63-DF80F7BB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62B50-5B00-4745-AD0A-311A98B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GUEST SESSIONS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BD874A-E320-460F-980A-C0B997C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815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token_hash · expires_at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DB105-FD01-43C9-9A33-CB88078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664AC7-B186-4726-8B7A-6C635580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CC3FC-1AB2-441A-9C4E-9E7CE073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N →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06C73D-3510-4008-8E2B-46115764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Ngoài PostgreSQL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F957C-B431-420F-8452-EC05C109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768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 · PDF / ảnh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9F53EF-CC21-4211-A4A9-766E5B4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 · vector + bbox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576AAC-7EA7-4257-8B41-8C1D5F6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768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 · queue / cache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84E34-32B9-4022-B345-822D1FC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Nguyên tắc: chỉ Backend ghi PostgreSQL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783CF6-648E-4CCB-A83B-7CA762DA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18DB5-445F-46F1-9D5E-68FE262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E726D1-0321-40AE-8581-5D57DFB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9862245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66754-DF2B-400A-AF1A-9FA2E722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8820-9BC0-4076-9E9B-76AA696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Dual-plane tách quản trị nghiệp vụ khỏi xử lý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D7CDD-8B5A-4779-ABC0-40B269EE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90700"/>
            <a:ext cx="3048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7A237-DDB5-4DE5-92F8-E34FD68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48025"/>
            <a:ext cx="628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219F5-F4BF-47AA-A683-8F69024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598F2-7842-45B8-B042-A04C2A38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4299-77A7-43E3-838A-604D5E7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90650"/>
            <a:ext cx="4381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CLIENTS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Web kiosk · Admin · Android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70E9D-0F18-47B3-B06C-5B2C529F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72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A2D47"/>
          </a:solidFill>
          <a:ln xmlns:a="http://schemas.openxmlformats.org/drawingml/2006/main" w="9525">
            <a:solidFill>
              <a:srgbClr val="3552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C00E7-B302-479E-B464-9EC58BD9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GOVERNANCE PLANE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FF42B-547B-4B68-9A04-8EB5D7E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3.3 · Java 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DCAD9-E79B-459C-BD88-23C9AAAB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Auth / RBAC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Document &amp; version lifecycle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Guest session &amp; TTL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Audit · API · file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FFCDF-5DC1-4989-A367-2A11FC42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5772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73451"/>
          </a:solidFill>
          <a:ln xmlns:a="http://schemas.openxmlformats.org/drawingml/2006/main" w="9525">
            <a:solidFill>
              <a:srgbClr val="3A6E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9821A-A1EE-4F84-BAEC-7C07DF38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AI INTELLIGENCE PLANE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0974F-AA08-49C0-8017-4360117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 · Celery · Local LLM/VLM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089B8-ABB8-4F1F-8926-3FBA22F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OCR / vision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Chunk + embedding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Hybrid retrieval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Guardrail + grounded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037FE-688D-4331-870C-D29D5E9C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nghiệp vụ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772AA-4B9F-40C5-A9B1-CD5FACE3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PDF / ảnh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97DDF-1E50-4FCF-9F3E-F66D6D9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vector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F3A07-E3C6-4E7A-8E9B-2E71FB9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queue /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7C900-8668-4405-9125-2AEC9EE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1C82D-6DAE-44DD-BC6D-9EBF79D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7364-BCD9-4DAB-821E-B0131C7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3323555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E9DAD-4702-4889-9603-DBA811BA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08 · DELIVERY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D0BFC-3799-4073-B1D5-A8A47C7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Lõi end-to-end đã chạy; đánh giá khoa học còn thiếu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8D632-A514-4AB9-BD28-5FFBB2B1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2578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E6F7F0"/>
          </a:solidFill>
          <a:ln xmlns:a="http://schemas.openxmlformats.org/drawingml/2006/main" w="9525">
            <a:solidFill>
              <a:srgbClr val="A6DC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CE98-F6B4-43DD-BD66-073D5B1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5B"/>
                </a:solidFill>
                <a:latin typeface="Arial"/>
                <a:ea typeface="Arial"/>
                <a:cs typeface="Arial"/>
              </a:rPr>
              <a:t>ĐÃ LÀM ĐƯỢC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D07EE-19EF-4796-8020-68516F3E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3434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Auth/RBAC, tài liệu/version, audit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Upload → OCR → chunk → embed → index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RAG thật + local LLM/VLM + citations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Flutter Web/Android + SSE + Snap &amp; Ask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Docker, Nginx, CI/CD và deploy nội bộ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C813A-E8CC-44C4-90C1-0A300BC7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343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9C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OCR spike nhỏ: EN 100% · VI 89,6%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(8 câu; chưa phải benchmark cuối)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1F40D-70A7-46A2-92A1-C6934BA1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54864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1C4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1824E-3C76-4D60-BD23-512C3BE7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CHƯA HOÀN THIỆN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8DF25-7EC8-425D-ACBC-F14EE196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45148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Dataset VI/EN và degradation set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Eval set + harness đo Recall / faithfulness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OCR preprocessing để giảm lỗi dấu tiếng Việt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Upload progress thời gian thực hoàn chỉnh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Pilot/UAT trên một dây chuyền thực tế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C1F4A-4A77-4DA7-B4AC-F9603FB1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514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B6B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Không công bố Recall 95,4% hay 0% hallucination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khi chưa có eval set tái lập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49DBE-7262-40E9-A06C-99FD583A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1895E-1F61-4917-8577-32720B36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FAE93-5FE7-4E81-8F78-DD49FFB4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2893756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24C08-B0E2-4CBB-8498-80F960F7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09 · LESSONS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C3324-ED05-4E2F-9F8B-9EFA2789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 bài học quyết định chất lượng của dự 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EB43A-4467-4A41-8ADC-89D0CA9F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1A36C-5199-41DA-9EE9-BF02C3EB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E576D-8D70-4188-83E2-EAB1D784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 trước, code sau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32AC7-7DCB-43D1-9F42-553675F4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Chốt ranh giới Backend ↔ AI giúp thay OCR, vector DB hoặc LLM mà không phá nghiệp vụ.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8D25F-6881-4394-83D9-37B088FC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C2CC6-E433-4F44-820F-7625F6FF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DFE69-B2B4-4E35-85CC-A5670594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Đo thật thay vì tuyên bố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DA5EA-27FC-45BD-B264-90ECA9FB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E2E và benchmark tái lập quan trọng hơn KPI đẹp nhưng không có dataset và ground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5EAB7-9D82-4D22-8234-CAB77742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36F95-3051-461B-9C40-9ED7EA9A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71967-2874-4438-9A0D-45345F9E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an toàn là một hệ thống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891B2-5565-4280-8ACC-FF068F5A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RBAC, version, retrieval, guardrail, citation và audit cùng tạo niềm tin — không phải riêng mô hình.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16386-3ECD-4B50-BEEA-C4B5EC4B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DCID đã chứng minh một kiến trúc khả thi cho trợ lý tri thức công nghiệp on-premise.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69D36-A828-4B11-A79F-A23D469F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D0F6"/>
                </a:solidFill>
                <a:latin typeface="Arial"/>
                <a:ea typeface="Arial"/>
                <a:cs typeface="Arial"/>
              </a:rPr>
              <a:t>Bước tiếp theo: hoàn thiện eval → pilot một dây chuyền → đo tác động vận hành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18113-B9EE-4094-901F-7541BF02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6D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Q&amp;A / LIVE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5A1B7-130C-4524-9CF7-A287A97D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AA537-707D-41FA-AF06-73729738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84EB6E-D622-4464-B254-4123FEE6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898010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2026-08-19T14:06:02.8920000Z</dcterms:created>
  <dcterms:modified xsi:type="dcterms:W3CDTF">2026-08-19T14:06:02.8920000Z</dcterms:modified>
</coreProperties>
</file>