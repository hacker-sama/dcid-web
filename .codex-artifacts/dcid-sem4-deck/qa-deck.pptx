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b08a93175945c2" /><Relationship Type="http://schemas.openxmlformats.org/officeDocument/2006/relationships/extended-properties" Target="/docProps/app.xml" Id="R0b3bd72a1a974ebc" /><Relationship Type="http://schemas.openxmlformats.org/officeDocument/2006/relationships/officeDocument" Target="/ppt/presentation.xml" Id="R60d59319a11d47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b94a71523a45b0"/>
  </p:sldMasterIdLst>
  <p:notesMasterIdLst>
    <p:notesMasterId xmlns:r="http://schemas.openxmlformats.org/officeDocument/2006/relationships" r:id="R99808ea089ef4ed6"/>
  </p:notesMasterIdLst>
  <p:sldIdLst>
    <p:sldId xmlns:r="http://schemas.openxmlformats.org/officeDocument/2006/relationships" id="256" r:id="R413b1b67549c47b2"/>
    <p:sldId xmlns:r="http://schemas.openxmlformats.org/officeDocument/2006/relationships" id="257" r:id="R78610b0103e0445b"/>
    <p:sldId xmlns:r="http://schemas.openxmlformats.org/officeDocument/2006/relationships" id="258" r:id="R61bb1b94a73b4129"/>
    <p:sldId xmlns:r="http://schemas.openxmlformats.org/officeDocument/2006/relationships" id="259" r:id="R6d2b92e30b5d4980"/>
    <p:sldId xmlns:r="http://schemas.openxmlformats.org/officeDocument/2006/relationships" id="260" r:id="R6aacf4fe01c745dc"/>
    <p:sldId xmlns:r="http://schemas.openxmlformats.org/officeDocument/2006/relationships" id="261" r:id="R7352b83a9dba4dcf"/>
    <p:sldId xmlns:r="http://schemas.openxmlformats.org/officeDocument/2006/relationships" id="262" r:id="Ref3415a473774a57"/>
    <p:sldId xmlns:r="http://schemas.openxmlformats.org/officeDocument/2006/relationships" id="263" r:id="R2dddd2e112b64223"/>
    <p:sldId xmlns:r="http://schemas.openxmlformats.org/officeDocument/2006/relationships" id="264" r:id="Rd8e500c993dc4d0d"/>
    <p:sldId xmlns:r="http://schemas.openxmlformats.org/officeDocument/2006/relationships" id="265" r:id="R53ef4b4d0cf84720"/>
    <p:sldId xmlns:r="http://schemas.openxmlformats.org/officeDocument/2006/relationships" id="266" r:id="R98cbb2e135564b55"/>
    <p:sldId xmlns:r="http://schemas.openxmlformats.org/officeDocument/2006/relationships" id="267" r:id="R1f20fa399be141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3ae089e227467a" /><Relationship Type="http://schemas.openxmlformats.org/officeDocument/2006/relationships/slideMaster" Target="/ppt/slideMasters/slideMaster1.xml" Id="Rffb94a71523a45b0" /><Relationship Type="http://schemas.openxmlformats.org/officeDocument/2006/relationships/notesMaster" Target="/ppt/notesMasters/notesMaster1.xml" Id="R99808ea089ef4ed6" /><Relationship Type="http://schemas.openxmlformats.org/officeDocument/2006/relationships/presProps" Target="/ppt/presProps.xml" Id="R202c5d86fb404daa" /><Relationship Type="http://schemas.openxmlformats.org/officeDocument/2006/relationships/tableStyles" Target="/ppt/tableStyles.xml" Id="R6a5e9aa08ec64778" /><Relationship Type="http://schemas.openxmlformats.org/officeDocument/2006/relationships/slide" Target="/ppt/slides/slide1.xml" Id="R413b1b67549c47b2" /><Relationship Type="http://schemas.openxmlformats.org/officeDocument/2006/relationships/slide" Target="/ppt/slides/slide2.xml" Id="R78610b0103e0445b" /><Relationship Type="http://schemas.openxmlformats.org/officeDocument/2006/relationships/slide" Target="/ppt/slides/slide3.xml" Id="R61bb1b94a73b4129" /><Relationship Type="http://schemas.openxmlformats.org/officeDocument/2006/relationships/slide" Target="/ppt/slides/slide4.xml" Id="R6d2b92e30b5d4980" /><Relationship Type="http://schemas.openxmlformats.org/officeDocument/2006/relationships/slide" Target="/ppt/slides/slide5.xml" Id="R6aacf4fe01c745dc" /><Relationship Type="http://schemas.openxmlformats.org/officeDocument/2006/relationships/slide" Target="/ppt/slides/slide6.xml" Id="R7352b83a9dba4dcf" /><Relationship Type="http://schemas.openxmlformats.org/officeDocument/2006/relationships/slide" Target="/ppt/slides/slide7.xml" Id="Ref3415a473774a57" /><Relationship Type="http://schemas.openxmlformats.org/officeDocument/2006/relationships/slide" Target="/ppt/slides/slide8.xml" Id="R2dddd2e112b64223" /><Relationship Type="http://schemas.openxmlformats.org/officeDocument/2006/relationships/slide" Target="/ppt/slides/slide9.xml" Id="Rd8e500c993dc4d0d" /><Relationship Type="http://schemas.openxmlformats.org/officeDocument/2006/relationships/slide" Target="/ppt/slides/slide10.xml" Id="R53ef4b4d0cf84720" /><Relationship Type="http://schemas.openxmlformats.org/officeDocument/2006/relationships/slide" Target="/ppt/slides/slide11.xml" Id="R98cbb2e135564b55" /><Relationship Type="http://schemas.openxmlformats.org/officeDocument/2006/relationships/slide" Target="/ppt/slides/slide12.xml" Id="R1f20fa399be141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6656b9738c49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a7f836d065480d" /><Relationship Type="http://schemas.openxmlformats.org/officeDocument/2006/relationships/notesMaster" Target="/ppt/notesMasters/notesMaster1.xml" Id="Rd0e9c15b73aa46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352d87dcbc4227" /><Relationship Type="http://schemas.openxmlformats.org/officeDocument/2006/relationships/notesMaster" Target="/ppt/notesMasters/notesMaster1.xml" Id="Rb9f7797bfc214f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8b5b8ff4154c0a" /><Relationship Type="http://schemas.openxmlformats.org/officeDocument/2006/relationships/notesMaster" Target="/ppt/notesMasters/notesMaster1.xml" Id="Rf8e11d151f6244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408756bad64741" /><Relationship Type="http://schemas.openxmlformats.org/officeDocument/2006/relationships/notesMaster" Target="/ppt/notesMasters/notesMaster1.xml" Id="R16b594a50b114e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028523c2034a9f" /><Relationship Type="http://schemas.openxmlformats.org/officeDocument/2006/relationships/notesMaster" Target="/ppt/notesMasters/notesMaster1.xml" Id="R8ba63fbc9f9648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1d5cbd180a41c4" /><Relationship Type="http://schemas.openxmlformats.org/officeDocument/2006/relationships/notesMaster" Target="/ppt/notesMasters/notesMaster1.xml" Id="R18ac1bfb815645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2f5c05bbc54107" /><Relationship Type="http://schemas.openxmlformats.org/officeDocument/2006/relationships/notesMaster" Target="/ppt/notesMasters/notesMaster1.xml" Id="R9211a9d9442842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c66c3787734725" /><Relationship Type="http://schemas.openxmlformats.org/officeDocument/2006/relationships/notesMaster" Target="/ppt/notesMasters/notesMaster1.xml" Id="R30120576064041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117f6ddd35489a" /><Relationship Type="http://schemas.openxmlformats.org/officeDocument/2006/relationships/notesMaster" Target="/ppt/notesMasters/notesMaster1.xml" Id="R35c4b22eca2045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ac7156db634a6c" /><Relationship Type="http://schemas.openxmlformats.org/officeDocument/2006/relationships/notesMaster" Target="/ppt/notesMasters/notesMaster1.xml" Id="Rae660fdb8e9543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4a64401dd24413" /><Relationship Type="http://schemas.openxmlformats.org/officeDocument/2006/relationships/notesMaster" Target="/ppt/notesMasters/notesMaster1.xml" Id="R9249dcdd3f764d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ebccdce6574308" /><Relationship Type="http://schemas.openxmlformats.org/officeDocument/2006/relationships/notesMaster" Target="/ppt/notesMasters/notesMaster1.xml" Id="Rdcd65cd7465f46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bài toán ra quyết định kỹ thuật tại hiện trường, không giới thiệu hệ thống như một chatbot PDF thông thường.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project positioning and presentation brief</a:t>
            </a:r>
          </a:p>
          <a:p xmlns:a="http://schemas.openxmlformats.org/drawingml/2006/main">
            <a:r>
              <a:t>- C:\project\new\dcid-web\dcid-app\web\icons\Icon-512.png — project-owned app icon</a:t>
            </a:r>
          </a:p>
          <a:p xmlns:a="http://schemas.openxmlformats.org/drawingml/2006/main">
            <a:r>
              <a:t>- OpenAI image generation — custom hero generated for this deck; prompt recorded in 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từng thành viên trong một câu: tên, vai trò và đầu ra. Thay các placeholder bằng tên thật trước khi trình chiếu.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C:\project\new\dcid-web\docs\PLAN-THESIS.md — five-role responsibility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tác động vận hành: downtime, an toàn, chất lượng và tuân thủ. Không hứa thay thế chuyên gia; DCID hỗ trợ quyết định có căn cứ.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pain points</a:t>
            </a:r>
          </a:p>
          <a:p xmlns:a="http://schemas.openxmlformats.org/drawingml/2006/main">
            <a:r>
              <a:t>- C:\project\new\dcid-web\README.md — official document governance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business là kho tri thức chính thức có quản trị. Guest / Ask là kênh dùng thử, không phải trọng tâm giá trị.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dual-plane and role model</a:t>
            </a:r>
          </a:p>
          <a:p xmlns:a="http://schemas.openxmlformats.org/drawingml/2006/main">
            <a:r>
              <a:t>- C:\Users\HACOM\Downloads\report_presentation (1).md — private/grounded/governed proposition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ranh giới trách nhiệm: backend là single writer của PostgreSQL; AI chỉ nhận contract nội bộ và xử lý tri thức. Đây là quyết định quan trọng nhất của kiến trúc.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C:\project\new\dcid-web\docs\ARCHITECTURE.md — dual-plane architecture</a:t>
            </a:r>
          </a:p>
          <a:p xmlns:a="http://schemas.openxmlformats.org/drawingml/2006/main">
            <a:r>
              <a:t>- C:\project\new\dcid-web\docs\API-CONTRACT.md — backend/AI contract</a:t>
            </a:r>
          </a:p>
          <a:p xmlns:a="http://schemas.openxmlformats.org/drawingml/2006/main">
            <a:r>
              <a:t>- C:\Users\HACOM\Downloads\report_presentation (1).md — architecture 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danh sách công nghệ. Nêu tiêu chí chọn: phân tách trách nhiệm, chạy on-premise, chịu lỗi và đủ nhẹ cho hạ tầng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repository stack</a:t>
            </a:r>
          </a:p>
          <a:p xmlns:a="http://schemas.openxmlformats.org/drawingml/2006/main">
            <a:r>
              <a:t>- C:\project\new\dcid-web\docker-compose.yml — deployed services</a:t>
            </a:r>
          </a:p>
          <a:p xmlns:a="http://schemas.openxmlformats.org/drawingml/2006/main">
            <a:r>
              <a:t>- C:\project\new\dcid-web\docs\ARCHITECTURE.md — technology decisions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case A chứng minh governance và giá trị vận hành. Use case B chứng minh cô lập dữ liệu và trải nghiệm không cần tài khoản.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official and guest workflows</a:t>
            </a:r>
          </a:p>
          <a:p xmlns:a="http://schemas.openxmlformats.org/drawingml/2006/main">
            <a:r>
              <a:t>- C:\Users\HACOM\Downloads\report_presentation (1).md — dual-system 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5 bước. Nhấn mạnh ingestion chạy nền để upload không phải chờ OCR/embedding, và metadata không gian được giữ xuyên suốt.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ingestion sequence</a:t>
            </a:r>
          </a:p>
          <a:p xmlns:a="http://schemas.openxmlformats.org/drawingml/2006/main">
            <a:r>
              <a:t>- C:\project\new\dcid-web\dcid-ai\app\pipeline\ocr.py — hybrid extraction</a:t>
            </a:r>
          </a:p>
          <a:p xmlns:a="http://schemas.openxmlformats.org/drawingml/2006/main">
            <a:r>
              <a:t>- C:\project\new\dcid-web\docs\API-CONTRACT.md — ingest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quan trọng nhất. Trình bày theo thứ tự: policy trước retrieval, guardrail trước generation, và luôn có bằng chứng hoặc từ chối. Không dùng tuyên bố tuyệt đối '0% hallucination'.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C:\project\new\dcid-web\dcid-backend\src\main\java\vn\dcid\service\QueryService.java — allowed ACTIVE versions by role</a:t>
            </a:r>
          </a:p>
          <a:p xmlns:a="http://schemas.openxmlformats.org/drawingml/2006/main">
            <a:r>
              <a:t>- C:\project\new\dcid-web\dcid-ai\app\services\query_service.py — RAG orchestration</a:t>
            </a:r>
          </a:p>
          <a:p xmlns:a="http://schemas.openxmlformats.org/drawingml/2006/main">
            <a:r>
              <a:t>- C:\project\new\dcid-web\dcid-ai\app\pipeline\guardrails.py — threshold and numeric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toàn bộ schema. Nêu ba quan hệ cốt lõi: document–version, version–page, query–matched version; sau đó giải thích polyglot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C:\project\new\dcid-web\docs\ERD.md — relational schema and storage separation</a:t>
            </a:r>
          </a:p>
          <a:p xmlns:a="http://schemas.openxmlformats.org/drawingml/2006/main">
            <a:r>
              <a:t>- C:\project\new\dcid-web\dcid-backend\src\main\resources\db\migration — implemented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Tách rõ implemented và measured. Đây là cách trả lời an toàn nếu hội đồng hỏi 'số liệu lấy ở đâu'. Chỉ dùng baseline có mô tả mẫu đo.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verified implementation status updated 2026-08-06</a:t>
            </a:r>
          </a:p>
          <a:p xmlns:a="http://schemas.openxmlformats.org/drawingml/2006/main">
            <a:r>
              <a:t>- C:\project\new\dcid-web\docs\PLAN-THESIS.md — OCR spike and pending evaluation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kết luận có thể bảo vệ: kiến trúc đã chạy, giá trị đã rõ, nhưng cần đánh giá và pilot trước khi khẳng định hiệu quả sản xuất. Sau đó chuyển sang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implementation lessons and next milestones</a:t>
            </a:r>
          </a:p>
          <a:p xmlns:a="http://schemas.openxmlformats.org/drawingml/2006/main">
            <a:r>
              <a:t>- C:\project\new\dcid-web\docs\SETUP.md — E2E issues and fixes</a:t>
            </a:r>
          </a:p>
          <a:p xmlns:a="http://schemas.openxmlformats.org/drawingml/2006/main">
            <a:r>
              <a:t>- C:\project\new\dcid-web\docs\PLAN-THESIS.md — evaluation 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eb07a84234e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b0c2a0cb6d49ef" /><Relationship Type="http://schemas.openxmlformats.org/officeDocument/2006/relationships/slideLayout" Target="/ppt/slideLayouts/slideLayout1.xml" Id="R1bb0f02f564544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b0f02f564544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105f49386490b" /><Relationship Type="http://schemas.openxmlformats.org/officeDocument/2006/relationships/image" Target="/ppt/media/image.png" Id="R6595ddf41a9b4e7d" /><Relationship Type="http://schemas.openxmlformats.org/officeDocument/2006/relationships/image" Target="/ppt/media/image2.png" Id="R6d2825918e4947e4" /><Relationship Type="http://schemas.openxmlformats.org/officeDocument/2006/relationships/notesSlide" Target="/ppt/notesSlides/notesSlide1.xml" Id="R21557bfe183546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23f29b1154aab" /><Relationship Type="http://schemas.openxmlformats.org/officeDocument/2006/relationships/notesSlide" Target="/ppt/notesSlides/notesSlide2.xml" Id="R67a7ac436fce41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ec593a6e64972" /><Relationship Type="http://schemas.openxmlformats.org/officeDocument/2006/relationships/notesSlide" Target="/ppt/notesSlides/notesSlide3.xml" Id="Rad29bb7790854b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bb75c22e14ee9" /><Relationship Type="http://schemas.openxmlformats.org/officeDocument/2006/relationships/notesSlide" Target="/ppt/notesSlides/notesSlide4.xml" Id="Rab2d1010c4274b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1fb735aa94cc0" /><Relationship Type="http://schemas.openxmlformats.org/officeDocument/2006/relationships/notesSlide" Target="/ppt/notesSlides/notesSlide5.xml" Id="R1909cfed5f9548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1ca3667c649b3" /><Relationship Type="http://schemas.openxmlformats.org/officeDocument/2006/relationships/notesSlide" Target="/ppt/notesSlides/notesSlide6.xml" Id="R2561ca76456447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4753d1e2140cc" /><Relationship Type="http://schemas.openxmlformats.org/officeDocument/2006/relationships/notesSlide" Target="/ppt/notesSlides/notesSlide7.xml" Id="R0019db5d7a1349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b44f9efe447b6" /><Relationship Type="http://schemas.openxmlformats.org/officeDocument/2006/relationships/notesSlide" Target="/ppt/notesSlides/notesSlide8.xml" Id="Rb66ece2635874f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181752fc14a32" /><Relationship Type="http://schemas.openxmlformats.org/officeDocument/2006/relationships/notesSlide" Target="/ppt/notesSlides/notesSlide9.xml" Id="R8139ae5eac0445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8433dd8044ceb" /><Relationship Type="http://schemas.openxmlformats.org/officeDocument/2006/relationships/notesSlide" Target="/ppt/notesSlides/notesSlide10.xml" Id="Rc334ddadcc8b4f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1c666e55e470d" /><Relationship Type="http://schemas.openxmlformats.org/officeDocument/2006/relationships/notesSlide" Target="/ppt/notesSlides/notesSlide11.xml" Id="R07ff8ce5adf549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bb5aa78804065" /><Relationship Type="http://schemas.openxmlformats.org/officeDocument/2006/relationships/notesSlide" Target="/ppt/notesSlides/notesSlide12.xml" Id="Rd91c4c4950244c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5ddf41a9b4e7d"/>
          <a:srcRect xmlns:a="http://schemas.openxmlformats.org/drawingml/2006/main" l="0" t="12145" r="0" b="12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0"/>
            <a:ext cx="6038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2D49B-3C93-4C2B-93FF-26EF4F14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1676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825918e4947e4"/>
          <a:stretch xmlns:a="http://schemas.openxmlformats.org/drawingml/2006/main"/>
        </p:blipFill>
        <p:spPr>
          <a:xfrm xmlns:a="http://schemas.openxmlformats.org/drawingml/2006/main">
            <a:off x="533400" y="400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8C26B-4C5B-4321-A0B9-0DBC9C4A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PROJECT SEM4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827B2-3E2F-483F-AC2A-3C89F145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47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DCID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9A3D6-ED55-44AB-9222-F930B6DE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Cognitive</a:t>
            </a:r>
          </a:p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Industrial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50B21-6C91-4166-8DC7-BB569A55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48567-4FEF-4C59-891F-4F8F41D3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Đúng tri thức · Đúng phiên bản</a:t>
            </a:r>
          </a:p>
          <a:p xmlns:a="http://schemas.openxmlformats.org/drawingml/2006/main">
            <a:pPr algn="l"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Ngay tại hiện trường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52312-BBBD-4EC9-B800-F3E27CCE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Trợ lý tri thức kỹ thuật on-premise cho nhà máy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F7B05-4B4D-4F6F-938D-7D38223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Nhóm thực hiện: [Tên nhóm]</a:t>
            </a:r>
          </a:p>
        </p:txBody>
      </p:sp>
    </p:spTree>
    <p:extLst>
      <p:ext uri="{BB962C8B-B14F-4D97-AF65-F5344CB8AC3E}">
        <p14:creationId xmlns:p14="http://schemas.microsoft.com/office/powerpoint/2010/main" val="54631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50D6FC-CE3E-4991-90D4-8F760F1D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 ·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B2565-5542-458B-A475-19DE38B9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 vai trò, một luồng bàn giao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74BC1-F865-4620-9A6F-722658D8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95F9B-14C8-401A-BF20-F7E98A49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Tên thành viên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47069-E240-4903-875E-6A19215D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81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Phụ trách chính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B44DE-7EFB-4BDB-9770-CD20AE4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81150"/>
            <a:ext cx="4276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Đầu ra chịu trách nhiệm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56FF3-558B-49A7-AC2D-2E3200BA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DA5F6-8D8D-4AEF-882B-5D8EDFBC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B1EA0-9434-4EA0-A64C-134CA882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2455C-6E15-478D-A62C-5194E532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1]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6A099-6D11-43B8-A088-D2506C5E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PM / Documentation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FC10D-E112-45DE-AB61-FACEE75F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Scope · báo cáo · slide · điều phối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2E157-8600-43B2-868D-ED5EADE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FF3B2-8597-4C4C-915C-2066ACC4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24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2]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C1E47-35F4-431A-9594-A1A71662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01C8D7-5BCA-4588-B05A-1D6C5F1A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24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Auth/RBAC · tài liệu/version · audit ·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C90A7-C749-4C74-9043-3645BBA0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441B1-151D-4159-AC67-6C8F7BD1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5D72B-7AD1-4238-B8BA-A22CF863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3]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92F2B-4D51-43E6-AD00-87150BF7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05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AI Engineer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0BD71-F4D8-4815-A99B-59E2F918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 · RAG · guardrail · LLM/VLM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64210-024B-4A60-AEF8-98AA8C13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68FDF-9BE1-4C3D-AFAD-07B5E03C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4]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E16E9-F0CE-44A4-9B54-7D7CB044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862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Frontend Flutter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FEF3F-AABB-4C87-8956-AC548739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 kiosk · Android · citation viewer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CCC34-8197-47FE-ADEC-890D3942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66282-D27A-45A9-ABB2-19423FF8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20ACE8-1E23-4F68-A872-BD9CB8F8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673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5]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F1E7A8-1F4D-489F-96D3-73EEC2E2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6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Data / QA / DevOps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D3BE2A-8FE6-4818-B2A3-D45A0791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673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Dataset · eval · Docker · CI/CD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70C7D8-2683-47F4-9047-F2745989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3CC3D6-6F8D-482A-816B-7979AEF1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583FD5-8F99-4699-88E2-607B36B0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943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E386D-6140-4B47-9E36-BB3C7F3E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82EAF-818F-4C3E-A9DF-1DAE6AAA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Bài toán thật: tìm đúng tài liệu dưới áp lực hiện trường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DE395-9984-41F6-9ADA-F4725379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84CBB-181A-4710-BC16-FEB371CC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Khi máy dừng, kỹ sư không cần thêm một chatbot — họ cần bằng chứng kỹ thuật đúng, có hiệu lực và được phép xem.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76EF2-6B2C-4B4C-B7B5-A42CAD0F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77113-2F24-4A8C-8F45-28AD673B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4B74E-9AD9-46CC-91D6-CAF5FF99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phân tán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AF2A4-2A46-4BEA-BEAE-09B0101F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SOP, manual và bản vẽ nằm ở nhiều nơi; tìm thủ công làm tăng thời gian xử lý sự cố.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BC023-B3EB-4767-A684-988511F6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9EB11-BC9B-49D0-B5C5-7189D45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Nhiều phiên bản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DECF8-600F-44C2-8DFF-62EA561C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Dùng nhầm bản cũ có thể tạo thao tác sai, ảnh hưởng an toàn, chất lượng và tuân thủ.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DFD62-5D4E-4EBE-B0DA-7892B843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8F4BD-E1B5-4C91-A676-DAD54345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Không thể đưa lên cloud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E4FA9-9E34-4855-96D5-C72E6F4C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Bản vẽ và quy trình nội bộ chứa bí mật công nghệ, cần giữ trong mạng nhà máy.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8C051-5D8A-4202-AD45-B3C1D1CC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D3723-54C3-4C03-A657-021B84DC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có thể suy đoán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01066-84BD-4B64-8C0E-9C24F8AF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con số sai về điện áp, áp suất hoặc dung sai có thể gây hậu quả vận hành nghiêm trọng.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983B8-26E2-41DF-810C-3C319E76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27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 tiêu kinh doanh: giảm thời gian tìm tri thức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giảm rủi ro quyết định sai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A27E7-B89E-4993-B008-30FF9F1C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B49F1-3C68-4984-A420-7926A65C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4CE66-020B-4FF9-8D20-B7315C4C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281017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7555BD-0E3D-4893-B1B1-49AE6175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4C263-FCC1-45E6-B46D-14AF598D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1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DCID trả lời từ tài liệu có kiểm soát, không từ trí nhớ mô hình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AFEF0-94C5-42A0-BA40-474F19DB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2DE08-9582-41C5-B4AD-BA629571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 cam kết 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828BE-305C-4D99-B4F7-AA6AFEAE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D64A2-7DD0-41C6-9545-EBB2D446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Chạy on-premise; dữ liệu không rời hệ thống nội bộ.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E4DCE-8ACD-4F6A-8101-72574FB5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FFE50-9B96-4BB6-8609-4D3F9698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3EE8C-5765-471C-802A-51494609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Câu trả lời gắn trang, đoạn trích và vị trí nguồn.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49AB0-BED9-426C-8A98-B2C155E5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D04AB-DA57-473A-B02C-497DF40C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CC2E8-46AB-41F1-AE58-454FB4B2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phiên bản ACTIVE, audit và feedback.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D07A3-1C20-48BE-9C70-69CEBA06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6CBBA-9059-417E-B71A-6CCE18D9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7912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5A1F3-B726-4D13-ADAE-F286A644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 và công việc chính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3386B-D927-4F70-88FA-AAE49CC6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9DA88-2BF4-44BA-96FE-C3F85756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SOP vận hành và an toàn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F288D-0499-4A81-835F-7E1FA86C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674F1-7103-457B-8012-DA9EE5A7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bản vẽ, lỗi máy, thông số và hướng dẫn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688A7-3D15-4566-9981-EEAB86F8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QA_ADMIN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A4404-0BF4-4065-B56D-75875C53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Upload, quản lý phiên bản và phát hành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71E10-63C2-413C-8FDB-0397D54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7A85D6-3FAF-4243-A40C-F3A2A6C9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người dùng, audit và hệ thống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45811-B03E-40C1-A236-AA0E60FC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4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4E7"/>
                </a:solidFill>
                <a:latin typeface="Arial"/>
                <a:ea typeface="Arial"/>
                <a:cs typeface="Arial"/>
              </a:rPr>
              <a:t>Kênh phụ trợ: Guest / Ask cho dùng thử tài liệu tạm thời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6BD03C-C7DA-45EC-AC0D-75BAE2CE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74BB65-6F1A-4336-99FC-B6A37456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F3D5E-9756-4FCB-AF7D-02345A61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647494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0155E-7F31-4FCC-9E96-A7BC1BB5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1BF2D-E3ED-490F-B33E-ECF262DC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Dual-plane tách quản trị nghiệp vụ khỏi xử lý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02090-D57B-4AE4-83AA-449BF83D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C5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5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A0EF5-8BED-45D0-AE94-22F0266C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9189E-3608-46E9-8503-E277B6A9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C2C3E-1563-45D1-9092-F22B0371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62AED-1DCE-4EC6-82F6-7D85D671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5B19B-8EA9-47FC-A2D6-CEA92A36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CLIENTS</a:t>
            </a:r>
          </a:p>
          <a:p xmlns:a="http://schemas.openxmlformats.org/drawingml/2006/main">
            <a:pPr algn="ctr"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Web kiosk · Admin · Android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E5555-9118-4F45-A285-B6348A67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182C7-44B2-4F7E-AFD3-F217D827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GOVERNANCE 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E2013-94B4-437A-B247-712B4013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3.3 · Java 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75F9E-9D7D-4AC2-85CD-33A6548E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Auth / RBAC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Document &amp; version lifecycle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Guest session &amp; TTL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· API · file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7C9FC-F631-4F07-B591-8274147E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1B765-13D3-4A6E-8BA6-2247F6E9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INTELLIGENCE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EAD0B-6766-4E7B-86DA-22D88EB3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Local LLM/VLM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C338C-686D-450E-917C-D202C54F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OCR / vision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Chunk + embedding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Guardrail + grounded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A3201-7D24-4C73-8F91-198EAA4E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nghiệp vụ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2600F-C567-44BF-AC9B-BFF0F400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/ ảnh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A24B7-296A-440F-AFE9-30F82FFB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B1D51-39D9-49CE-83E2-99E8CD2F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/ cache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25434-62E6-4BC2-A5C4-6464D768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1546E-8A01-4B0F-B013-0FAE7101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8CBFC-C584-472E-8EBD-54CD83E3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2422634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74C6FF-45B9-4E10-8B19-1040A929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80051-6AA1-4B96-BD77-AD12248D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giữ một trách nhiệm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2030F-06C9-434E-B6E7-397208B4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3B165-D3FB-4246-909B-44680F05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LỚP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EBE82-E0C2-4434-9386-0D9AA22C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B59B9-AFCE-4B29-AF0C-25C84AF6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VÌ SAO DÙNG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6A6CA-61C2-45DE-98E2-F1402901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F6B87-8E3F-4C32-A05E-C1F3C550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5C60D-009E-4777-BFEB-26137855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 · SSE/STOMP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EE4E6-76E0-4116-AFF4-E7CB6078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codebase cho Web kiosk và Android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7A2E3-A561-496A-90B9-4511FFAF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8AE1F-5A2C-46D7-ADA8-0150B888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 · JPA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EBC35-06AE-4722-A753-70FFA4C5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version, audit, API và single-writer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83321-6F3D-437F-8196-C4D602FE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CFFFE-9D4A-43F9-A4C1-F2A5918B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CD421-1BFE-4846-BC0B-D2E6F6F8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Celery · PyMuPDF · PaddleOCR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C350E-7DE1-410D-8602-697D00DE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OCR, RAG, vision và xử lý nền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04EB9-FE44-4048-9D1D-EAFA012F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FA789-2E49-40B3-BF4F-17BD725A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2D383-CEC0-4035-95BA-BA5EB7DD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multilingual-e5 · BM25 · Qdrant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2DBD4-08CE-4949-B3F2-A563EB8B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Bắt cả ý nghĩa lẫn mã máy / mã lỗi chính xác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1A7A4-1356-4881-A5C3-632A4F57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0CCC3-73E6-4F4F-A3FF-697744C1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· MinIO · Redis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573CE-A021-4709-A14F-8CBA326F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Tách metadata, file nhị phân và hàng đợi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17A10E-AAAC-4BE0-982C-E8F62CEA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1014B-F74C-4927-B7D7-F9CE0212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Docker Compose · Nginx · GitHub 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AD25E2-2665-4D41-8133-1A153ECA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Đóng gói, triển khai nội bộ và CI/CD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241D38-0489-487C-9E70-B4D198DF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792D2A-026C-46A3-812C-E26BC0D8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CD73B1-2109-40A3-9351-2382825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928711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F95EE-F7D0-4634-B2F4-89DB4528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 ·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9A39B-DE56-4332-AD7E-11D83FB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phân hệ, hai mức tin cậy và vòng đời dữ liệu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90451-1B34-406B-A570-FDA78B2A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4A140-83AC-4868-B481-C8F8D55C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58B0E-8BA4-4F04-AADA-BE33659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 · KHO TÀI LIỆU CHÍNH THỨC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8A499-9551-4716-9D09-A5A23155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hằng ngày trong nhà máy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9F41F-AAAC-4475-8723-3215490B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Đăng nhập JWT và lọc theo RBAC</a:t>
            </a:r>
          </a:p>
          <a:p xmlns:a="http://schemas.openxmlformats.org/drawingml/2006/main">
            <a:pPr algn="l"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Upload SOP / manual / bản vẽ</a:t>
            </a:r>
          </a:p>
          <a:p xmlns:a="http://schemas.openxmlformats.org/drawingml/2006/main">
            <a:pPr algn="l"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Quản lý version và trạng thái ACTIVE</a:t>
            </a:r>
          </a:p>
          <a:p xmlns:a="http://schemas.openxmlformats.org/drawingml/2006/main">
            <a:pPr algn="l"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Hỏi đáp RAG + trích dẫn</a:t>
            </a:r>
          </a:p>
          <a:p xmlns:a="http://schemas.openxmlformats.org/drawingml/2006/main">
            <a:pPr algn="l"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Ghi query log và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BB0BA-0D43-49E5-BA21-6EE04D30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0F1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CORE BUSINESS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32CF0-E1D2-4199-8CC8-9A8D2E2B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486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A9843-7F24-4545-8CD7-07B36C92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B · GUEST / 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6B9C4-0E5D-4E43-9586-A892775C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Trải nghiệm nhanh với tài liệu tạm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619BA-33BA-45A7-A10D-3ED31120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cần tài khoản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Session token ngẫu nhiên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File và vector cô lập theo session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TTL 2 giờ; cleanup định kỳ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trộn vào kho chính thức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87038-2440-4C38-8F3C-325851B5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KÊNH DÙNG THỬ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CFCD1-D129-4146-897B-66C120D3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95EA5-9E3E-4376-9D72-07EC761F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6BCBE-AB17-40BF-93E6-EAEFE9F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238843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77EB2E-F0E0-4F46-9626-5CDBCC20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43D47-2021-49D6-9D11-A9A58F93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được biến thành tri thức có vị trí nguồn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7857C-6214-468A-9AF7-82D77348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1EDAF-6AAF-457C-9A6A-45A7763E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33BDD-980C-4B7F-B1D4-2B67CFDF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2EA0C-9949-42A8-A00B-A22F066A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63626-7CDC-49AE-A57B-2ECB1301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49A4B-6447-49A6-B48A-CB5D2E70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F6593-BACB-4EB3-A285-09FE32BB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14347-1C06-4884-9372-9D9808BC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1823C-1BA8-4B81-A578-E514464F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PDF vào MinIO</a:t>
            </a:r>
          </a:p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Version = 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F098C-69A8-4C57-92F8-EC340CEB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F54A3-A5BF-46BA-9745-4CC7BD2D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053E4-866F-493C-9E63-2B9385E1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330A8-A84C-4ED3-9D75-F063ADB3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text hoặc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 200 DPI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41E14-5CB0-4B30-9354-30C1F798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9DF44-E210-4B5F-B982-D2E32ED9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29A35-C0E1-4D48-A9A4-3EC25356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87ACC-0D7B-4B76-B707-42D73FEF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Giữ bảng + Bbox</a:t>
            </a:r>
          </a:p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snippet nguồn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B5A28-F66D-474C-B48C-DD593AA8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380D4-B470-43E5-AAE0-6E813BB5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0E98E-77D8-4975-BB2E-84624134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04EDA2-C9FE-4697-82C3-69118326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multilingual-e5</a:t>
            </a:r>
          </a:p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vector 384 chiều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B8CB1-37F1-42CF-8D2D-F7E5B2F1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3F32E-6393-4878-A8E0-EF5E4205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CFA28-78A8-49FD-9089-30E91F74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2CB81-574C-487A-8239-591E9FED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+ payload</a:t>
            </a:r>
          </a:p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318148-AF3A-4575-9F6C-CD21FF8C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48EDA0-DFFC-4B34-B770-E1B99036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Điểm khác biệt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83877-5BF5-4A23-91CF-33EA109A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Mỗi chunk giữ page_no + bbox + snippet, nên câu trả lời có thể mở đúng trang và khoanh đúng vùng bằng chứng.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42F502-D308-4CA6-9202-9A5C98C7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6C2A29-4B02-4C7B-A57F-CBD61E9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8E5703-BCC6-43A4-AC5C-E1579F2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4455F4-64C1-4533-B279-248F14A4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458486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511398-0FAB-46ED-A500-6C1ABE47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24B22-D919-423A-A968-F8FF44DD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chỉ đi tới LLM sau khi qua quyền và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B8AF7-D997-4F6E-9640-9B637B39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C5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5D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714BB-F8A3-497A-A038-39FD5297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3735C-D76A-459A-81A2-59914E1F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903B1-61A2-433A-9EF9-3F89A18A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9DA46-CFCB-4277-B73F-D861EDD5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C330E-23B3-4AE0-92AB-6226FB4A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C12A4-3D54-414D-AC4E-7A25D099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08602-B53D-4CEB-A2DC-E2312037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6C631-A137-46E4-B153-458B4913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+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E11F7-453F-412A-99E6-A27BDA63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0E4C8-0A04-419B-A58A-60DA6DA3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76617-CC00-4AA4-A6DE-4312F96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57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RBAC + chỉ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 ACTIVE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BE94D-35E6-450B-9192-DD862142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0172A-A36E-4E5C-AD6A-0E31D70C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61F49-312D-49C5-9EC1-52A11488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5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 + BM25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4A308-5A9E-428A-AADD-68442717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22EF4-658F-4F97-BAF0-C6AD18E5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98201-7483-4769-A7DB-DEC42CFE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số liệu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36ECE-FD2E-4718-BCB7-DF2FAAD1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5B2F2-61A9-4DB9-BEA6-DC60ABD9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2B3A3-ECD8-4D7A-9524-9C05524B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theo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CBF06-E01D-4095-AA6B-7E9FE940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CDDA6-F456-4B3A-A127-B1E58EB1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BC68E-F1F5-4605-ADAC-01C0A482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Citation + audit</a:t>
            </a:r>
          </a:p>
          <a:p xmlns:a="http://schemas.openxmlformats.org/drawingml/2006/main">
            <a:pPr algn="ctr"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hoặc từ chối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2B953-E2E0-4297-904A-A5A62A69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82501-D606-47DF-9B37-E5ED81CD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Khi bằng chứng đủ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436ECD-DFD3-4B71-ACFD-E813CB17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+ confidence + citations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người dùng mở trang nguồn để đối chiếu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17C5F3-ACE8-4CCB-BE55-1EFE5FCC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183600-FB39-4A7C-93D8-B5168574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Khi bằng chứng yếu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1C9650-AF00-47B0-964F-4C2ECD78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 hoặc gắn nhãn câu trả lời tham khảo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yêu cầu kỹ sư kiểm tra bản vẽ gốc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9336C0-59AA-486F-A85F-F9F0D35F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Thông điệp an toàn: giảm câu trả lời thiếu căn cứ — không tuyên bố AI không bao giờ sai.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55304A-F8B3-41F6-9AD6-A8B1E93F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F2742A-5A8B-4C75-B657-1598A3EE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B7CC78-DA11-4835-952C-43416BE2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4753944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EB4494-915C-406F-A81B-F21A4C26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B7973-E09E-4EFC-B733-2B5DF0FA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giữ nghiệp vụ; file và vector tách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B59D1-889C-493D-A82D-96717319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0B5DB-5FD7-4A3A-B16A-80DB7527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EAF98-5E18-4448-BA1A-0D64EAB5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EAE68-2B30-41E0-B275-26B31A3A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8F04E-4CC9-4852-8DFA-AC3C8EED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22D2B-BBF8-4EB2-A896-963D259F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76B59-207B-412C-8D8F-940304A6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F3918-AEC4-4EDA-B415-8F806171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FA347-6B3C-415E-A784-0D330615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CFCB0-5B42-4EFE-9B1D-A625DEAE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 ·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D5840-4643-417B-B8D2-F74994D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975D6-3208-4EF8-AE1A-DB480C33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C417B-CA99-41CA-9ADB-7551CC4C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machine_code · min_role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FF42B-3D67-4653-95EF-F84BBD3F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EB69B-02F2-4A2E-8B92-440DDB48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891BD-B424-40D5-A1E7-65BC5ED5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· version_no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132CA-AEF7-42D5-841F-5A8564A3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CE32A-4208-4F90-845D-BF693336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B2284-9808-475B-962B-F2E7668D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confidence · locked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9A7DC-8B66-40A6-92B3-1B90CC66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42614-EF98-4CFE-9453-ED3FAC25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45DA54-E866-42DC-923D-C7E14AAB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 · action · detail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28656-8467-4AF4-B7E5-F8E173C8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D3E153-1C81-45C3-9F68-6CFBFC82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B629D3-C74A-4EAD-977D-45FDD8E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page_no · image_key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E5B1FE-990F-42E4-B6C7-985CA03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5A9363-6400-4F64-8775-374E39D9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 SESSIONS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32CF0-6B3A-49B0-B701-726703EF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token_hash · expires_at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ACF3FA-B6D4-4DCA-9E30-02EDA3E4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1F3C9D-4079-4DB1-A4F1-E18BB1BF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85D14-F62B-49F2-8009-CE86E669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765D95-5C53-400A-BB4C-621126AB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Ngoài PostgreSQL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DC8D84-06D3-4F52-A404-7CD8556B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 · PDF / ảnh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4C9455-DF60-40A0-B3FE-F3C0B902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 · vector + bbox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7E582C-9699-443C-A51D-C99D953B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 · queue / cache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6CCE91-75E9-44C2-ABE6-084B692F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Nguyên tắc: chỉ Backend ghi PostgreSQL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210785-B032-4241-AAD9-04EE7DBA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463F05-FF05-4FD4-BA5C-98A627B0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5C7F1D-CE94-4EA2-AFCD-97297709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5035373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69921-3C92-4FA2-9D12-98823759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08 ·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3F06A-30BA-486B-AC9B-D8F1FBAB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Lõi end-to-end đã chạy; thước đo khoa học vẫn cần hoàn thiện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0BF90-1693-493F-8DA2-58BE735A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2ACEA-4E09-4800-AD37-56747B9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578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6F7F0"/>
          </a:solidFill>
          <a:ln xmlns:a="http://schemas.openxmlformats.org/drawingml/2006/main" w="9525">
            <a:solidFill>
              <a:srgbClr val="A6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89CF5-27E7-4763-821B-36D6F4C8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5B"/>
                </a:solidFill>
                <a:latin typeface="Arial"/>
                <a:ea typeface="Arial"/>
                <a:cs typeface="Arial"/>
              </a:rPr>
              <a:t>ĐÃ LÀM ĐƯỢC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5DBE0-C178-435E-85D2-EBA51B42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343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Auth/RBAC, tài liệu/version, audit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Upload → OCR → chunk → embed → index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RAG thật + local LLM/VLM + citations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Flutter Web/Android + SSE + Snap &amp; Ask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Docker, Nginx, CI/CD và deploy nội bộ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BDCB0-322B-40E1-8AE2-66641459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343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9C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OCR spike nhỏ: EN 100% · VI 89,6%</a:t>
            </a:r>
          </a:p>
          <a:p xmlns:a="http://schemas.openxmlformats.org/drawingml/2006/main">
            <a:pPr algn="ctr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(8 câu; chưa phải benchmark cuối)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0C9E5-20AA-4940-A73E-66E7761E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4864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4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88C1A-A0DC-4FD9-B3C7-5D830050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CHƯA HOÀN THIỆN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171E5-77AB-4CFD-8253-DF8EAF6C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5148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Dataset VI/EN và degradation set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Eval set + harness đo Recall / faithfulness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OCR preprocessing để giảm lỗi dấu tiếng Việt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Upload progress thời gian thực hoàn chỉnh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Pilot/UAT trên một dây chuyền thực tế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7A959-525E-4044-931A-2A9069C7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514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B6B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Không công bố Recall 95,4% hay 0% hallucination</a:t>
            </a:r>
          </a:p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khi chưa có eval set tái lập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CB7E5-F715-427B-9C9B-86A43590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3D720-0013-40F3-A83A-7638A783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8DF5F-6720-4115-95C4-7FF30280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4690774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5DF9B-D346-4C55-8605-706EE903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09 · 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6ED81-2EF5-4E53-8C63-FE204E5C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 bài học quyết định chất lượng của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33F5F-C371-49E0-BAEA-6D52E1DE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C5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5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F2893-9F32-44A3-83C4-6D83104A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1139A-C65F-43FC-B408-33C76727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07585-4E2E-4770-BD8C-9FA5757C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trước, code sau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2243E-04FB-4B2F-8A72-6718D252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Chốt ranh giới Backend ↔ AI giúp thay OCR, vector DB hoặc LLM mà không phá nghiệp vụ.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B4092-AFB5-470C-9ABC-CAC26852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51A4C-3BE3-4887-AFDC-994595D6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4C633-1E39-4E11-9E1D-6CD2AEE8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Đo thật thay vì tuyên bố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69A7C-0F33-4350-87FE-E64426EE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E2E và benchmark tái lập quan trọng hơn KPI đẹp nhưng không có dataset và ground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959DE-0114-420B-9A1A-625E4568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CDD2F-A2C2-47C9-970B-6D0204B1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F9CEB-E490-41E5-8DF7-56B0484E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8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 toàn là một hệ thống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406E1-EF1C-43C6-981B-EC36C162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RBAC, version, retrieval, guardrail, citation và audit cùng tạo niềm tin — không phải riêng mô hình.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93F21-4B82-42FB-89FD-D7538546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DCID đã chứng minh một kiến trúc khả thi cho trợ lý tri thức công nghiệp on-premise.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A59C7-66B2-4C5E-8A38-C8A54D15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D0F6"/>
                </a:solidFill>
                <a:latin typeface="Arial"/>
                <a:ea typeface="Arial"/>
                <a:cs typeface="Arial"/>
              </a:rPr>
              <a:t>Bước tiếp theo: hoàn thiện eval → pilot một dây chuyền → đo tác động vận hành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9EC07-CD90-4E1A-B9AC-CA5FD97C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6D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Q&amp;A / LIVE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836E1-8E27-4A8E-BF2D-1A1F382D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1C36C-5A8E-4102-9E1D-52842146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99015-1622-4C4A-A3C5-91FFF32A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441725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2026-08-19T12:37:35.6340000Z</dcterms:created>
  <dcterms:modified xsi:type="dcterms:W3CDTF">2026-08-19T12:37:35.6340000Z</dcterms:modified>
</coreProperties>
</file>